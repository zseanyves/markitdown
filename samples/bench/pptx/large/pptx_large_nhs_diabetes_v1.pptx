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420" r:id="rId5"/>
    <p:sldId id="479" r:id="rId6"/>
    <p:sldId id="450" r:id="rId7"/>
    <p:sldId id="482" r:id="rId8"/>
    <p:sldId id="497" r:id="rId9"/>
    <p:sldId id="489" r:id="rId10"/>
    <p:sldId id="498" r:id="rId11"/>
    <p:sldId id="496" r:id="rId12"/>
    <p:sldId id="468" r:id="rId13"/>
    <p:sldId id="454" r:id="rId14"/>
    <p:sldId id="492" r:id="rId15"/>
    <p:sldId id="485" r:id="rId16"/>
    <p:sldId id="480" r:id="rId17"/>
    <p:sldId id="364" r:id="rId18"/>
    <p:sldId id="651" r:id="rId19"/>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0ECDBD7-4E1F-496D-B6F2-54A702A40D24}">
          <p14:sldIdLst>
            <p14:sldId id="420"/>
            <p14:sldId id="479"/>
            <p14:sldId id="450"/>
            <p14:sldId id="482"/>
            <p14:sldId id="497"/>
            <p14:sldId id="489"/>
            <p14:sldId id="498"/>
            <p14:sldId id="496"/>
            <p14:sldId id="468"/>
            <p14:sldId id="454"/>
            <p14:sldId id="492"/>
            <p14:sldId id="485"/>
            <p14:sldId id="480"/>
            <p14:sldId id="364"/>
            <p14:sldId id="65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herine Sylvester" initials="C" lastIdx="28" clrIdx="0"/>
  <p:cmAuthor id="1" name="Peter Knighton" initials="PK" lastIdx="33" clrIdx="1"/>
  <p:cmAuthor id="2" name="Bob Young" initials="" lastIdx="36" clrIdx="2"/>
  <p:cmAuthor id="3" name="Cartwright, Cher" initials="CC" lastIdx="32" clrIdx="3"/>
  <p:cmAuthor id="4" name="Anna Duggan" initials="AD" lastIdx="59" clrIdx="4"/>
  <p:cmAuthor id="5" name="Marsland Louise" initials="ML" lastIdx="45" clrIdx="5"/>
  <p:cmAuthor id="6" name="Daniela Silva" initials="DS" lastIdx="58" clrIdx="6"/>
  <p:cmAuthor id="7" name="Matthew Curley" initials="MC" lastIdx="43" clrIdx="7"/>
  <p:cmAuthor id="8" name="Cher Cartwright" initials="CC" lastIdx="1" clrIdx="8"/>
  <p:cmAuthor id="9" name="Isla Salisbury" initials="IS" lastIdx="8" clrIdx="9"/>
  <p:cmAuthor id="10" name="Michael Mason" initials="MM" lastIdx="5" clrIdx="10"/>
  <p:cmAuthor id="11" name="Emma Barron" initials="EB" lastIdx="18" clrIdx="11"/>
  <p:cmAuthor id="12" name="Stephen Cowley" initials="SC" lastIdx="4" clrIdx="12">
    <p:extLst>
      <p:ext uri="{19B8F6BF-5375-455C-9EA6-DF929625EA0E}">
        <p15:presenceInfo xmlns:p15="http://schemas.microsoft.com/office/powerpoint/2012/main" userId="S::stco8@hscic.gov.uk::2a52f127-fc91-495a-9d1d-2b7b92f9a6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9F9"/>
    <a:srgbClr val="005CB8"/>
    <a:srgbClr val="005EB8"/>
    <a:srgbClr val="CBD2E6"/>
    <a:srgbClr val="FFFFFF"/>
    <a:srgbClr val="FFB81C"/>
    <a:srgbClr val="00A050"/>
    <a:srgbClr val="5EC1EA"/>
    <a:srgbClr val="D0D5D6"/>
    <a:srgbClr val="0030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23" autoAdjust="0"/>
    <p:restoredTop sz="96182" autoAdjust="0"/>
  </p:normalViewPr>
  <p:slideViewPr>
    <p:cSldViewPr>
      <p:cViewPr varScale="1">
        <p:scale>
          <a:sx n="114" d="100"/>
          <a:sy n="114" d="100"/>
        </p:scale>
        <p:origin x="462"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100" d="100"/>
        <a:sy n="100" d="100"/>
      </p:scale>
      <p:origin x="0" y="0"/>
    </p:cViewPr>
  </p:sorterViewPr>
  <p:notesViewPr>
    <p:cSldViewPr>
      <p:cViewPr varScale="1">
        <p:scale>
          <a:sx n="65" d="100"/>
          <a:sy n="65" d="100"/>
        </p:scale>
        <p:origin x="-3138" y="-12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1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3653918260217464E-2"/>
          <c:y val="2.8250877769855555E-2"/>
          <c:w val="0.88715680292861498"/>
          <c:h val="0.96777416673701167"/>
        </c:manualLayout>
      </c:layout>
      <c:pieChart>
        <c:varyColors val="1"/>
        <c:ser>
          <c:idx val="0"/>
          <c:order val="0"/>
          <c:tx>
            <c:strRef>
              <c:f>Sheet1!$B$1</c:f>
              <c:strCache>
                <c:ptCount val="1"/>
                <c:pt idx="0">
                  <c:v>Value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3-F73E-454A-BA60-017A626BE51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F73E-454A-BA60-017A626BE51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1-F73E-454A-BA60-017A626BE51A}"/>
              </c:ext>
            </c:extLst>
          </c:dPt>
          <c:dLbls>
            <c:dLbl>
              <c:idx val="0"/>
              <c:layout>
                <c:manualLayout>
                  <c:x val="-0.18601190476190477"/>
                  <c:y val="-0.11447235837370537"/>
                </c:manualLayout>
              </c:layout>
              <c:showLegendKey val="0"/>
              <c:showVal val="0"/>
              <c:showCatName val="1"/>
              <c:showSerName val="0"/>
              <c:showPercent val="0"/>
              <c:showBubbleSize val="0"/>
              <c:extLst>
                <c:ext xmlns:c15="http://schemas.microsoft.com/office/drawing/2012/chart" uri="{CE6537A1-D6FC-4f65-9D91-7224C49458BB}">
                  <c15:layout>
                    <c:manualLayout>
                      <c:w val="0.3169642857142857"/>
                      <c:h val="0.10088395624943733"/>
                    </c:manualLayout>
                  </c15:layout>
                </c:ext>
                <c:ext xmlns:c16="http://schemas.microsoft.com/office/drawing/2014/chart" uri="{C3380CC4-5D6E-409C-BE32-E72D297353CC}">
                  <c16:uniqueId val="{00000003-F73E-454A-BA60-017A626BE51A}"/>
                </c:ext>
              </c:extLst>
            </c:dLbl>
            <c:dLbl>
              <c:idx val="1"/>
              <c:layout>
                <c:manualLayout>
                  <c:x val="5.9523809523809521E-3"/>
                  <c:y val="-8.0086118454277735E-3"/>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375"/>
                      <c:h val="0.13451194166591643"/>
                    </c:manualLayout>
                  </c15:layout>
                </c:ext>
                <c:ext xmlns:c16="http://schemas.microsoft.com/office/drawing/2014/chart" uri="{C3380CC4-5D6E-409C-BE32-E72D297353CC}">
                  <c16:uniqueId val="{00000002-F73E-454A-BA60-017A626BE51A}"/>
                </c:ext>
              </c:extLst>
            </c:dLbl>
            <c:dLbl>
              <c:idx val="2"/>
              <c:layout>
                <c:manualLayout>
                  <c:x val="0.10617875890513685"/>
                  <c:y val="0.11160928565685782"/>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4106631983502062"/>
                      <c:h val="0.25245060633881505"/>
                    </c:manualLayout>
                  </c15:layout>
                </c:ext>
                <c:ext xmlns:c16="http://schemas.microsoft.com/office/drawing/2014/chart" uri="{C3380CC4-5D6E-409C-BE32-E72D297353CC}">
                  <c16:uniqueId val="{00000001-F73E-454A-BA60-017A626BE51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White</c:v>
                </c:pt>
                <c:pt idx="1">
                  <c:v>BAME</c:v>
                </c:pt>
                <c:pt idx="2">
                  <c:v>Unknown</c:v>
                </c:pt>
              </c:strCache>
            </c:strRef>
          </c:cat>
          <c:val>
            <c:numRef>
              <c:f>Sheet1!$B$2:$B$4</c:f>
              <c:numCache>
                <c:formatCode>General</c:formatCode>
                <c:ptCount val="3"/>
                <c:pt idx="0">
                  <c:v>67</c:v>
                </c:pt>
                <c:pt idx="1">
                  <c:v>15.4</c:v>
                </c:pt>
                <c:pt idx="2">
                  <c:v>17.600000000000001</c:v>
                </c:pt>
              </c:numCache>
            </c:numRef>
          </c:val>
          <c:extLst>
            <c:ext xmlns:c16="http://schemas.microsoft.com/office/drawing/2014/chart" uri="{C3380CC4-5D6E-409C-BE32-E72D297353CC}">
              <c16:uniqueId val="{00000000-F73E-454A-BA60-017A626BE51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39B4765-A133-4BBE-AAB0-442DBD41A55E}" type="datetimeFigureOut">
              <a:rPr lang="en-GB" smtClean="0"/>
              <a:t>12/07/2019</a:t>
            </a:fld>
            <a:endParaRPr lang="en-GB" dirty="0"/>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B7B9907A-72EF-4AD4-9791-159CFE3DDF18}" type="slidenum">
              <a:rPr lang="en-GB" smtClean="0"/>
              <a:t>‹#›</a:t>
            </a:fld>
            <a:endParaRPr lang="en-GB" dirty="0"/>
          </a:p>
        </p:txBody>
      </p:sp>
    </p:spTree>
    <p:extLst>
      <p:ext uri="{BB962C8B-B14F-4D97-AF65-F5344CB8AC3E}">
        <p14:creationId xmlns:p14="http://schemas.microsoft.com/office/powerpoint/2010/main" val="3391777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ADB2BA8F-77E7-4D74-8429-FEA15301A487}" type="datetimeFigureOut">
              <a:rPr lang="en-GB" smtClean="0"/>
              <a:t>12/07/2019</a:t>
            </a:fld>
            <a:endParaRPr lang="en-GB"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573BD2BE-0D39-469E-8B13-E83FE0E0A27D}" type="slidenum">
              <a:rPr lang="en-GB" smtClean="0"/>
              <a:t>‹#›</a:t>
            </a:fld>
            <a:endParaRPr lang="en-GB" dirty="0"/>
          </a:p>
        </p:txBody>
      </p:sp>
    </p:spTree>
    <p:extLst>
      <p:ext uri="{BB962C8B-B14F-4D97-AF65-F5344CB8AC3E}">
        <p14:creationId xmlns:p14="http://schemas.microsoft.com/office/powerpoint/2010/main" val="708269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6</a:t>
            </a:fld>
            <a:endParaRPr lang="en-GB" dirty="0"/>
          </a:p>
        </p:txBody>
      </p:sp>
    </p:spTree>
    <p:extLst>
      <p:ext uri="{BB962C8B-B14F-4D97-AF65-F5344CB8AC3E}">
        <p14:creationId xmlns:p14="http://schemas.microsoft.com/office/powerpoint/2010/main" val="592962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7</a:t>
            </a:fld>
            <a:endParaRPr lang="en-GB" dirty="0"/>
          </a:p>
        </p:txBody>
      </p:sp>
    </p:spTree>
    <p:extLst>
      <p:ext uri="{BB962C8B-B14F-4D97-AF65-F5344CB8AC3E}">
        <p14:creationId xmlns:p14="http://schemas.microsoft.com/office/powerpoint/2010/main" val="41205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8</a:t>
            </a:fld>
            <a:endParaRPr lang="en-GB" dirty="0"/>
          </a:p>
        </p:txBody>
      </p:sp>
    </p:spTree>
    <p:extLst>
      <p:ext uri="{BB962C8B-B14F-4D97-AF65-F5344CB8AC3E}">
        <p14:creationId xmlns:p14="http://schemas.microsoft.com/office/powerpoint/2010/main" val="353611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9</a:t>
            </a:fld>
            <a:endParaRPr lang="en-GB" dirty="0"/>
          </a:p>
        </p:txBody>
      </p:sp>
    </p:spTree>
    <p:extLst>
      <p:ext uri="{BB962C8B-B14F-4D97-AF65-F5344CB8AC3E}">
        <p14:creationId xmlns:p14="http://schemas.microsoft.com/office/powerpoint/2010/main" val="3154803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10</a:t>
            </a:fld>
            <a:endParaRPr lang="en-GB" dirty="0"/>
          </a:p>
        </p:txBody>
      </p:sp>
    </p:spTree>
    <p:extLst>
      <p:ext uri="{BB962C8B-B14F-4D97-AF65-F5344CB8AC3E}">
        <p14:creationId xmlns:p14="http://schemas.microsoft.com/office/powerpoint/2010/main" val="1404247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11</a:t>
            </a:fld>
            <a:endParaRPr lang="en-GB" dirty="0"/>
          </a:p>
        </p:txBody>
      </p:sp>
    </p:spTree>
    <p:extLst>
      <p:ext uri="{BB962C8B-B14F-4D97-AF65-F5344CB8AC3E}">
        <p14:creationId xmlns:p14="http://schemas.microsoft.com/office/powerpoint/2010/main" val="800817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73BD2BE-0D39-469E-8B13-E83FE0E0A27D}" type="slidenum">
              <a:rPr lang="en-GB" smtClean="0"/>
              <a:t>14</a:t>
            </a:fld>
            <a:endParaRPr lang="en-GB" dirty="0"/>
          </a:p>
        </p:txBody>
      </p:sp>
    </p:spTree>
    <p:extLst>
      <p:ext uri="{BB962C8B-B14F-4D97-AF65-F5344CB8AC3E}">
        <p14:creationId xmlns:p14="http://schemas.microsoft.com/office/powerpoint/2010/main" val="2285158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3BD2BE-0D39-469E-8B13-E83FE0E0A27D}" type="slidenum">
              <a:rPr lang="en-GB" smtClean="0"/>
              <a:t>15</a:t>
            </a:fld>
            <a:endParaRPr lang="en-GB" dirty="0"/>
          </a:p>
        </p:txBody>
      </p:sp>
    </p:spTree>
    <p:extLst>
      <p:ext uri="{BB962C8B-B14F-4D97-AF65-F5344CB8AC3E}">
        <p14:creationId xmlns:p14="http://schemas.microsoft.com/office/powerpoint/2010/main" val="22551325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4" name="Rectangle 3"/>
          <p:cNvSpPr/>
          <p:nvPr userDrawn="1"/>
        </p:nvSpPr>
        <p:spPr>
          <a:xfrm>
            <a:off x="0" y="0"/>
            <a:ext cx="9144000" cy="585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p:cNvSpPr/>
          <p:nvPr userDrawn="1"/>
        </p:nvSpPr>
        <p:spPr>
          <a:xfrm>
            <a:off x="0" y="5808000"/>
            <a:ext cx="9144000" cy="10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p:cNvPicPr/>
          <p:nvPr userDrawn="1"/>
        </p:nvPicPr>
        <p:blipFill>
          <a:blip r:embed="rId2" cstate="print">
            <a:extLst>
              <a:ext uri="{28A0092B-C50C-407E-A947-70E740481C1C}">
                <a14:useLocalDpi xmlns:a14="http://schemas.microsoft.com/office/drawing/2010/main" val="0"/>
              </a:ext>
            </a:extLst>
          </a:blip>
          <a:stretch>
            <a:fillRect/>
          </a:stretch>
        </p:blipFill>
        <p:spPr>
          <a:xfrm>
            <a:off x="6948263" y="339648"/>
            <a:ext cx="1728193" cy="1263685"/>
          </a:xfrm>
          <a:prstGeom prst="rect">
            <a:avLst/>
          </a:prstGeom>
        </p:spPr>
      </p:pic>
      <p:sp>
        <p:nvSpPr>
          <p:cNvPr id="9" name="Text Placeholder 5"/>
          <p:cNvSpPr>
            <a:spLocks noGrp="1"/>
          </p:cNvSpPr>
          <p:nvPr>
            <p:ph type="body" sz="quarter" idx="12" hasCustomPrompt="1"/>
          </p:nvPr>
        </p:nvSpPr>
        <p:spPr>
          <a:xfrm>
            <a:off x="720000" y="2304000"/>
            <a:ext cx="6660312" cy="644744"/>
          </a:xfrm>
        </p:spPr>
        <p:txBody>
          <a:bodyPr lIns="0" tIns="0" rIns="0" bIns="0">
            <a:normAutofit/>
          </a:bodyPr>
          <a:lstStyle>
            <a:lvl1pPr marL="0" indent="0">
              <a:spcBef>
                <a:spcPts val="0"/>
              </a:spcBef>
              <a:buNone/>
              <a:defRPr sz="3000" b="1" spc="-40" baseline="0">
                <a:solidFill>
                  <a:schemeClr val="accent1"/>
                </a:solidFill>
                <a:latin typeface="Arial" panose="020B0604020202020204" pitchFamily="34" charset="0"/>
              </a:defRPr>
            </a:lvl1pPr>
          </a:lstStyle>
          <a:p>
            <a:pPr lvl="0"/>
            <a:r>
              <a:rPr lang="en-US" dirty="0"/>
              <a:t>Title heading in 30pt Arial Bold</a:t>
            </a:r>
            <a:endParaRPr lang="en-GB" dirty="0"/>
          </a:p>
        </p:txBody>
      </p:sp>
      <p:sp>
        <p:nvSpPr>
          <p:cNvPr id="10" name="Text Placeholder 9"/>
          <p:cNvSpPr>
            <a:spLocks noGrp="1"/>
          </p:cNvSpPr>
          <p:nvPr>
            <p:ph type="body" sz="quarter" idx="13" hasCustomPrompt="1"/>
          </p:nvPr>
        </p:nvSpPr>
        <p:spPr>
          <a:xfrm>
            <a:off x="720000" y="3024002"/>
            <a:ext cx="6660312" cy="592737"/>
          </a:xfrm>
        </p:spPr>
        <p:txBody>
          <a:bodyPr lIns="0" tIns="0" rIns="0" bIns="0">
            <a:normAutofit/>
          </a:bodyPr>
          <a:lstStyle>
            <a:lvl1pPr marL="0" indent="0">
              <a:buNone/>
              <a:defRPr sz="2100" b="1">
                <a:solidFill>
                  <a:schemeClr val="accent2">
                    <a:lumMod val="75000"/>
                  </a:schemeClr>
                </a:solidFill>
              </a:defRPr>
            </a:lvl1pPr>
          </a:lstStyle>
          <a:p>
            <a:r>
              <a:rPr lang="en-US" dirty="0"/>
              <a:t>Subheading in 21pt Arial Bold</a:t>
            </a:r>
            <a:endParaRPr lang="en-GB" dirty="0"/>
          </a:p>
        </p:txBody>
      </p:sp>
    </p:spTree>
    <p:extLst>
      <p:ext uri="{BB962C8B-B14F-4D97-AF65-F5344CB8AC3E}">
        <p14:creationId xmlns:p14="http://schemas.microsoft.com/office/powerpoint/2010/main" val="1326722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userDrawn="1"/>
        </p:nvSpPr>
        <p:spPr>
          <a:xfrm>
            <a:off x="0" y="1248000"/>
            <a:ext cx="9144000" cy="56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hasCustomPrompt="1"/>
          </p:nvPr>
        </p:nvSpPr>
        <p:spPr>
          <a:xfrm>
            <a:off x="720000" y="480001"/>
            <a:ext cx="7632000" cy="706091"/>
          </a:xfrm>
        </p:spPr>
        <p:txBody>
          <a:bodyPr lIns="0" tIns="0" rIns="0" bIns="0" anchor="t">
            <a:normAutofit/>
          </a:bodyPr>
          <a:lstStyle>
            <a:lvl1pPr>
              <a:defRPr sz="3000" b="1" spc="-40" baseline="0">
                <a:solidFill>
                  <a:schemeClr val="accent1"/>
                </a:solidFill>
              </a:defRPr>
            </a:lvl1pPr>
          </a:lstStyle>
          <a:p>
            <a:r>
              <a:rPr lang="en-US" dirty="0"/>
              <a:t>Main Heading</a:t>
            </a:r>
            <a:endParaRPr lang="en-GB" dirty="0"/>
          </a:p>
        </p:txBody>
      </p:sp>
      <p:sp>
        <p:nvSpPr>
          <p:cNvPr id="3" name="Content Placeholder 2"/>
          <p:cNvSpPr>
            <a:spLocks noGrp="1"/>
          </p:cNvSpPr>
          <p:nvPr>
            <p:ph idx="1"/>
          </p:nvPr>
        </p:nvSpPr>
        <p:spPr>
          <a:xfrm>
            <a:off x="720000" y="1440000"/>
            <a:ext cx="7704000" cy="4581288"/>
          </a:xfrm>
        </p:spPr>
        <p:txBody>
          <a:bodyPr lIns="0" tIns="0" rIns="0" bIns="0"/>
          <a:lstStyle>
            <a:lvl1pPr>
              <a:defRPr sz="2400">
                <a:solidFill>
                  <a:schemeClr val="accent6"/>
                </a:solidFill>
              </a:defRPr>
            </a:lvl1pPr>
            <a:lvl2pPr>
              <a:defRPr sz="2100">
                <a:solidFill>
                  <a:schemeClr val="accent6"/>
                </a:solidFill>
              </a:defRPr>
            </a:lvl2pPr>
            <a:lvl3pPr marL="1143000" indent="-228600">
              <a:buFont typeface="Wingdings" panose="05000000000000000000" pitchFamily="2" charset="2"/>
              <a:buChar char="§"/>
              <a:defRPr sz="1800">
                <a:solidFill>
                  <a:schemeClr val="accent6"/>
                </a:solidFill>
              </a:defRPr>
            </a:lvl3pPr>
            <a:lvl4pPr>
              <a:defRPr sz="2100"/>
            </a:lvl4pPr>
            <a:lvl5pPr>
              <a:defRPr sz="1750"/>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6300192" y="6309320"/>
            <a:ext cx="2133600" cy="365125"/>
          </a:xfrm>
        </p:spPr>
        <p:txBody>
          <a:bodyPr/>
          <a:lstStyle>
            <a:lvl1pPr>
              <a:defRPr sz="1000">
                <a:solidFill>
                  <a:schemeClr val="accent6"/>
                </a:solidFill>
              </a:defRPr>
            </a:lvl1pPr>
          </a:lstStyle>
          <a:p>
            <a:fld id="{280AA684-6FB9-400F-B313-F111F0F48737}" type="slidenum">
              <a:rPr lang="en-GB" smtClean="0"/>
              <a:t>‹#›</a:t>
            </a:fld>
            <a:endParaRPr lang="en-GB" dirty="0"/>
          </a:p>
        </p:txBody>
      </p:sp>
    </p:spTree>
    <p:extLst>
      <p:ext uri="{BB962C8B-B14F-4D97-AF65-F5344CB8AC3E}">
        <p14:creationId xmlns:p14="http://schemas.microsoft.com/office/powerpoint/2010/main" val="1918140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0" name="Rectangle 9"/>
          <p:cNvSpPr/>
          <p:nvPr userDrawn="1"/>
        </p:nvSpPr>
        <p:spPr>
          <a:xfrm>
            <a:off x="0" y="0"/>
            <a:ext cx="9144000" cy="6885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hasCustomPrompt="1"/>
          </p:nvPr>
        </p:nvSpPr>
        <p:spPr>
          <a:xfrm>
            <a:off x="720000" y="932925"/>
            <a:ext cx="6804328" cy="1200091"/>
          </a:xfrm>
        </p:spPr>
        <p:txBody>
          <a:bodyPr lIns="0" tIns="0" rIns="0" bIns="0" anchor="t">
            <a:normAutofit/>
          </a:bodyPr>
          <a:lstStyle>
            <a:lvl1pPr>
              <a:defRPr sz="3000" b="1">
                <a:solidFill>
                  <a:schemeClr val="bg1"/>
                </a:solidFill>
              </a:defRPr>
            </a:lvl1pPr>
          </a:lstStyle>
          <a:p>
            <a:r>
              <a:rPr lang="en-US" dirty="0"/>
              <a:t>Main Heading</a:t>
            </a:r>
            <a:endParaRPr lang="en-GB" dirty="0"/>
          </a:p>
        </p:txBody>
      </p:sp>
      <p:sp>
        <p:nvSpPr>
          <p:cNvPr id="11" name="Content Placeholder 2"/>
          <p:cNvSpPr>
            <a:spLocks noGrp="1"/>
          </p:cNvSpPr>
          <p:nvPr>
            <p:ph idx="1"/>
          </p:nvPr>
        </p:nvSpPr>
        <p:spPr>
          <a:xfrm>
            <a:off x="683568" y="5829267"/>
            <a:ext cx="8003232" cy="880884"/>
          </a:xfrm>
        </p:spPr>
        <p:txBody>
          <a:bodyPr lIns="0" tIns="0" rIns="0" bIns="0">
            <a:normAutofit/>
          </a:bodyPr>
          <a:lstStyle>
            <a:lvl1pPr marL="0" indent="0">
              <a:buNone/>
              <a:defRPr sz="2100" b="1">
                <a:solidFill>
                  <a:srgbClr val="FFB81C"/>
                </a:solidFill>
              </a:defRPr>
            </a:lvl1pPr>
            <a:lvl2pPr>
              <a:defRPr sz="2600">
                <a:solidFill>
                  <a:schemeClr val="bg1"/>
                </a:solidFill>
              </a:defRPr>
            </a:lvl2pPr>
            <a:lvl3pPr marL="1143000" indent="-228600">
              <a:buFont typeface="Wingdings" panose="05000000000000000000" pitchFamily="2" charset="2"/>
              <a:buChar char="§"/>
              <a:defRPr sz="2200">
                <a:solidFill>
                  <a:schemeClr val="bg1"/>
                </a:solidFill>
              </a:defRPr>
            </a:lvl3pPr>
            <a:lvl4pPr>
              <a:defRPr sz="2100"/>
            </a:lvl4pPr>
            <a:lvl5pPr>
              <a:defRPr sz="1750"/>
            </a:lvl5pPr>
          </a:lstStyle>
          <a:p>
            <a:pPr lvl="0"/>
            <a:r>
              <a:rPr lang="en-US"/>
              <a:t>Click to edit Master text styles</a:t>
            </a:r>
          </a:p>
        </p:txBody>
      </p:sp>
      <p:sp>
        <p:nvSpPr>
          <p:cNvPr id="6" name="Slide Number Placeholder 5"/>
          <p:cNvSpPr>
            <a:spLocks noGrp="1"/>
          </p:cNvSpPr>
          <p:nvPr>
            <p:ph type="sldNum" sz="quarter" idx="12"/>
          </p:nvPr>
        </p:nvSpPr>
        <p:spPr>
          <a:xfrm>
            <a:off x="6300192" y="6309320"/>
            <a:ext cx="2133600" cy="365125"/>
          </a:xfrm>
        </p:spPr>
        <p:txBody>
          <a:bodyPr/>
          <a:lstStyle>
            <a:lvl1pPr>
              <a:defRPr sz="1000">
                <a:solidFill>
                  <a:schemeClr val="bg1"/>
                </a:solidFill>
              </a:defRPr>
            </a:lvl1pPr>
          </a:lstStyle>
          <a:p>
            <a:fld id="{4F2E129E-16B7-480B-972E-C025DBFD1D53}" type="slidenum">
              <a:rPr lang="en-GB" smtClean="0"/>
              <a:pPr/>
              <a:t>‹#›</a:t>
            </a:fld>
            <a:endParaRPr lang="en-GB" dirty="0"/>
          </a:p>
        </p:txBody>
      </p:sp>
    </p:spTree>
    <p:extLst>
      <p:ext uri="{BB962C8B-B14F-4D97-AF65-F5344CB8AC3E}">
        <p14:creationId xmlns:p14="http://schemas.microsoft.com/office/powerpoint/2010/main" val="3080355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1" name="Rectangle 10"/>
          <p:cNvSpPr/>
          <p:nvPr userDrawn="1"/>
        </p:nvSpPr>
        <p:spPr>
          <a:xfrm>
            <a:off x="0" y="0"/>
            <a:ext cx="9144000" cy="585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Picture 11"/>
          <p:cNvPicPr/>
          <p:nvPr userDrawn="1"/>
        </p:nvPicPr>
        <p:blipFill>
          <a:blip r:embed="rId2" cstate="print">
            <a:extLst>
              <a:ext uri="{28A0092B-C50C-407E-A947-70E740481C1C}">
                <a14:useLocalDpi xmlns:a14="http://schemas.microsoft.com/office/drawing/2010/main" val="0"/>
              </a:ext>
            </a:extLst>
          </a:blip>
          <a:stretch>
            <a:fillRect/>
          </a:stretch>
        </p:blipFill>
        <p:spPr>
          <a:xfrm>
            <a:off x="7478211" y="339648"/>
            <a:ext cx="1198245" cy="1263685"/>
          </a:xfrm>
          <a:prstGeom prst="rect">
            <a:avLst/>
          </a:prstGeom>
        </p:spPr>
      </p:pic>
      <p:sp>
        <p:nvSpPr>
          <p:cNvPr id="10" name="Rectangle 9"/>
          <p:cNvSpPr/>
          <p:nvPr userDrawn="1"/>
        </p:nvSpPr>
        <p:spPr>
          <a:xfrm>
            <a:off x="0" y="5253203"/>
            <a:ext cx="9144000" cy="172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p:cNvSpPr txBox="1"/>
          <p:nvPr userDrawn="1"/>
        </p:nvSpPr>
        <p:spPr>
          <a:xfrm>
            <a:off x="755576" y="1864313"/>
            <a:ext cx="6048672" cy="1938992"/>
          </a:xfrm>
          <a:prstGeom prst="rect">
            <a:avLst/>
          </a:prstGeom>
          <a:noFill/>
        </p:spPr>
        <p:txBody>
          <a:bodyPr wrap="square" rtlCol="0">
            <a:spAutoFit/>
          </a:bodyPr>
          <a:lstStyle/>
          <a:p>
            <a:pPr>
              <a:lnSpc>
                <a:spcPts val="3600"/>
              </a:lnSpc>
            </a:pPr>
            <a:r>
              <a:rPr lang="en-GB" sz="2400" b="1" u="none" strike="noStrike" kern="1200" dirty="0">
                <a:solidFill>
                  <a:schemeClr val="accent1"/>
                </a:solidFill>
                <a:effectLst/>
                <a:latin typeface="+mn-lt"/>
                <a:ea typeface="+mn-ea"/>
                <a:cs typeface="+mn-cs"/>
              </a:rPr>
              <a:t>www.digital.nhs.uk</a:t>
            </a:r>
            <a:endParaRPr lang="en-GB" sz="2400" kern="1200" dirty="0">
              <a:solidFill>
                <a:schemeClr val="accent1"/>
              </a:solidFill>
              <a:effectLst/>
              <a:latin typeface="+mn-lt"/>
              <a:ea typeface="+mn-ea"/>
              <a:cs typeface="+mn-cs"/>
            </a:endParaRPr>
          </a:p>
          <a:p>
            <a:pPr marL="0" marR="0" indent="0" algn="l" defTabSz="914400" rtl="0" eaLnBrk="1" fontAlgn="auto" latinLnBrk="0" hangingPunct="1">
              <a:lnSpc>
                <a:spcPts val="3600"/>
              </a:lnSpc>
              <a:spcBef>
                <a:spcPts val="0"/>
              </a:spcBef>
              <a:spcAft>
                <a:spcPts val="0"/>
              </a:spcAft>
              <a:buClrTx/>
              <a:buSzTx/>
              <a:buFontTx/>
              <a:buNone/>
              <a:tabLst/>
              <a:defRPr/>
            </a:pPr>
            <a:r>
              <a:rPr lang="en-GB" sz="2400" kern="1200" dirty="0">
                <a:solidFill>
                  <a:schemeClr val="accent1"/>
                </a:solidFill>
                <a:effectLst/>
                <a:latin typeface="+mn-lt"/>
                <a:ea typeface="+mn-ea"/>
                <a:cs typeface="+mn-cs"/>
              </a:rPr>
              <a:t>     </a:t>
            </a:r>
            <a:r>
              <a:rPr lang="en-GB" sz="2400" b="1" kern="1200" dirty="0">
                <a:solidFill>
                  <a:schemeClr val="accent1"/>
                </a:solidFill>
                <a:effectLst/>
                <a:latin typeface="+mn-lt"/>
                <a:ea typeface="+mn-ea"/>
                <a:cs typeface="+mn-cs"/>
              </a:rPr>
              <a:t>@nhsdigital</a:t>
            </a:r>
          </a:p>
          <a:p>
            <a:pPr>
              <a:lnSpc>
                <a:spcPts val="3600"/>
              </a:lnSpc>
            </a:pPr>
            <a:r>
              <a:rPr lang="en-GB" sz="2400" b="1" kern="1200" dirty="0">
                <a:solidFill>
                  <a:schemeClr val="accent1"/>
                </a:solidFill>
                <a:effectLst/>
                <a:latin typeface="+mn-lt"/>
                <a:ea typeface="+mn-ea"/>
                <a:cs typeface="+mn-cs"/>
              </a:rPr>
              <a:t>enquiries@nhsdigital.nhs.uk</a:t>
            </a:r>
          </a:p>
          <a:p>
            <a:pPr>
              <a:lnSpc>
                <a:spcPts val="3600"/>
              </a:lnSpc>
            </a:pPr>
            <a:r>
              <a:rPr lang="en-GB" sz="2400" b="1" kern="1200" dirty="0">
                <a:solidFill>
                  <a:schemeClr val="accent1"/>
                </a:solidFill>
                <a:effectLst/>
                <a:latin typeface="+mn-lt"/>
                <a:ea typeface="+mn-ea"/>
                <a:cs typeface="+mn-cs"/>
              </a:rPr>
              <a:t>0300 303</a:t>
            </a:r>
            <a:r>
              <a:rPr lang="en-GB" sz="2400" b="1" kern="1200" baseline="0" dirty="0">
                <a:solidFill>
                  <a:schemeClr val="accent1"/>
                </a:solidFill>
                <a:effectLst/>
                <a:latin typeface="+mn-lt"/>
                <a:ea typeface="+mn-ea"/>
                <a:cs typeface="+mn-cs"/>
              </a:rPr>
              <a:t> 5678</a:t>
            </a:r>
            <a:endParaRPr lang="en-GB" sz="2400" kern="1200" dirty="0">
              <a:solidFill>
                <a:schemeClr val="accent1"/>
              </a:solidFill>
              <a:effectLst/>
              <a:latin typeface="+mn-lt"/>
              <a:ea typeface="+mn-ea"/>
              <a:cs typeface="+mn-cs"/>
            </a:endParaRP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5576" y="5647392"/>
            <a:ext cx="3671171" cy="949961"/>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71927" y="2624027"/>
            <a:ext cx="387707" cy="516943"/>
          </a:xfrm>
          <a:prstGeom prst="rect">
            <a:avLst/>
          </a:prstGeom>
        </p:spPr>
      </p:pic>
    </p:spTree>
    <p:extLst>
      <p:ext uri="{BB962C8B-B14F-4D97-AF65-F5344CB8AC3E}">
        <p14:creationId xmlns:p14="http://schemas.microsoft.com/office/powerpoint/2010/main" val="20743140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2E129E-16B7-480B-972E-C025DBFD1D53}" type="slidenum">
              <a:rPr lang="en-GB" smtClean="0"/>
              <a:t>‹#›</a:t>
            </a:fld>
            <a:endParaRPr lang="en-GB" dirty="0"/>
          </a:p>
        </p:txBody>
      </p:sp>
    </p:spTree>
    <p:extLst>
      <p:ext uri="{BB962C8B-B14F-4D97-AF65-F5344CB8AC3E}">
        <p14:creationId xmlns:p14="http://schemas.microsoft.com/office/powerpoint/2010/main" val="554456388"/>
      </p:ext>
    </p:extLst>
  </p:cSld>
  <p:clrMap bg1="lt1" tx1="dk1" bg2="lt2" tx2="dk2" accent1="accent1" accent2="accent2" accent3="accent3" accent4="accent4" accent5="accent5" accent6="accent6" hlink="hlink" folHlink="folHlink"/>
  <p:sldLayoutIdLst>
    <p:sldLayoutId id="2147483686" r:id="rId1"/>
    <p:sldLayoutId id="2147483662" r:id="rId2"/>
    <p:sldLayoutId id="2147483687" r:id="rId3"/>
    <p:sldLayoutId id="2147483681" r:id="rId4"/>
  </p:sldLayoutIdLst>
  <p:hf hdr="0" ftr="0" dt="0"/>
  <p:txStyles>
    <p:titleStyle>
      <a:lvl1pPr algn="l" defTabSz="914400" rtl="0" eaLnBrk="1" latinLnBrk="0" hangingPunct="1">
        <a:spcBef>
          <a:spcPct val="0"/>
        </a:spcBef>
        <a:buNone/>
        <a:defRPr sz="3300" kern="1200">
          <a:solidFill>
            <a:schemeClr val="accent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000" kern="1200">
          <a:solidFill>
            <a:schemeClr val="accen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600" kern="1200">
          <a:solidFill>
            <a:schemeClr val="accen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200" kern="1200">
          <a:solidFill>
            <a:schemeClr val="accen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accen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accen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gov.uk/guidance/cardiovascular-disease-data-and-analysis-a-guide-for-health-professionals#estimates-of-cvd-prevalence"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ons.gov.uk/peoplepopulationandcommunity/populationandmigration/populationestimates/datasets/populationestimatesforukenglandandwalesscotlandandnorthernireland" TargetMode="Externa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www.nomisweb.co.uk/query/construct/summary.asp?reset=yes&amp;mode=construct&amp;dataset=651&amp;version=0&amp;anal=1&amp;initse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files.digital.nhs.uk/C5/A91FA6/HSE17-Adult-Child-BMI-tab.xls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hyperlink" Target="https://digital.nhs.uk/"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mailto:enquiries@nhsdigital.nhs.uk?subject=NPID%20Audit%20Report%20201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264628" y="1628800"/>
            <a:ext cx="8627852" cy="576064"/>
          </a:xfrm>
        </p:spPr>
        <p:txBody>
          <a:bodyPr>
            <a:noAutofit/>
          </a:bodyPr>
          <a:lstStyle/>
          <a:p>
            <a:r>
              <a:rPr lang="en-GB" dirty="0"/>
              <a:t>Diabetes Prevention Programme, 2017-18 Diagnoses and Demographics</a:t>
            </a:r>
          </a:p>
        </p:txBody>
      </p:sp>
      <p:sp>
        <p:nvSpPr>
          <p:cNvPr id="9" name="Text Placeholder 8"/>
          <p:cNvSpPr>
            <a:spLocks noGrp="1"/>
          </p:cNvSpPr>
          <p:nvPr>
            <p:ph type="body" sz="quarter" idx="13"/>
          </p:nvPr>
        </p:nvSpPr>
        <p:spPr>
          <a:xfrm>
            <a:off x="264628" y="2708920"/>
            <a:ext cx="4896544" cy="1944216"/>
          </a:xfrm>
        </p:spPr>
        <p:txBody>
          <a:bodyPr>
            <a:noAutofit/>
          </a:bodyPr>
          <a:lstStyle/>
          <a:p>
            <a:r>
              <a:rPr lang="en-GB" dirty="0"/>
              <a:t>England</a:t>
            </a:r>
          </a:p>
          <a:p>
            <a:r>
              <a:rPr lang="en-GB" dirty="0"/>
              <a:t>11 July 2019</a:t>
            </a:r>
          </a:p>
          <a:p>
            <a:endParaRPr lang="en-GB" dirty="0"/>
          </a:p>
        </p:txBody>
      </p:sp>
      <p:pic>
        <p:nvPicPr>
          <p:cNvPr id="4" name="Picture 3" descr="C:\Users\AYelland\AppData\Local\Temp\Rar$DIa0.070\02-NHSDigital-Strap-300dpi-WhiteYellow.png">
            <a:extLst>
              <a:ext uri="{FF2B5EF4-FFF2-40B4-BE49-F238E27FC236}">
                <a16:creationId xmlns:a16="http://schemas.microsoft.com/office/drawing/2014/main" id="{549B3D3A-94F3-40C9-B024-F5A02E0DFB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628" y="5916899"/>
            <a:ext cx="4319025" cy="83820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78227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A271-4239-4CB9-B53C-7B7D1A0D2857}"/>
              </a:ext>
            </a:extLst>
          </p:cNvPr>
          <p:cNvSpPr>
            <a:spLocks noGrp="1"/>
          </p:cNvSpPr>
          <p:nvPr>
            <p:ph type="title"/>
          </p:nvPr>
        </p:nvSpPr>
        <p:spPr>
          <a:xfrm>
            <a:off x="352800" y="331200"/>
            <a:ext cx="7632000" cy="706091"/>
          </a:xfrm>
        </p:spPr>
        <p:txBody>
          <a:bodyPr>
            <a:normAutofit/>
          </a:bodyPr>
          <a:lstStyle/>
          <a:p>
            <a:r>
              <a:rPr lang="en-GB" sz="3300" dirty="0"/>
              <a:t>Introduction</a:t>
            </a:r>
          </a:p>
        </p:txBody>
      </p:sp>
      <p:sp>
        <p:nvSpPr>
          <p:cNvPr id="4" name="Slide Number Placeholder 3">
            <a:extLst>
              <a:ext uri="{FF2B5EF4-FFF2-40B4-BE49-F238E27FC236}">
                <a16:creationId xmlns:a16="http://schemas.microsoft.com/office/drawing/2014/main" id="{3FC12A0E-37C0-4E27-A5A3-7ED374BFC23C}"/>
              </a:ext>
            </a:extLst>
          </p:cNvPr>
          <p:cNvSpPr>
            <a:spLocks noGrp="1"/>
          </p:cNvSpPr>
          <p:nvPr>
            <p:ph type="sldNum" sz="quarter" idx="12"/>
          </p:nvPr>
        </p:nvSpPr>
        <p:spPr/>
        <p:txBody>
          <a:bodyPr/>
          <a:lstStyle/>
          <a:p>
            <a:fld id="{280AA684-6FB9-400F-B313-F111F0F48737}" type="slidenum">
              <a:rPr lang="en-GB" smtClean="0"/>
              <a:t>2</a:t>
            </a:fld>
            <a:endParaRPr lang="en-GB" dirty="0"/>
          </a:p>
        </p:txBody>
      </p:sp>
      <p:sp>
        <p:nvSpPr>
          <p:cNvPr id="7" name="Content Placeholder 2">
            <a:extLst>
              <a:ext uri="{FF2B5EF4-FFF2-40B4-BE49-F238E27FC236}">
                <a16:creationId xmlns:a16="http://schemas.microsoft.com/office/drawing/2014/main" id="{8AF137CB-B5A2-4A64-A03C-34BEB41410C4}"/>
              </a:ext>
            </a:extLst>
          </p:cNvPr>
          <p:cNvSpPr>
            <a:spLocks noGrp="1"/>
          </p:cNvSpPr>
          <p:nvPr>
            <p:ph idx="1"/>
          </p:nvPr>
        </p:nvSpPr>
        <p:spPr>
          <a:xfrm>
            <a:off x="467544" y="1283050"/>
            <a:ext cx="8424936" cy="1568506"/>
          </a:xfrm>
        </p:spPr>
        <p:txBody>
          <a:bodyPr>
            <a:normAutofit/>
          </a:bodyPr>
          <a:lstStyle/>
          <a:p>
            <a:pPr marL="0" indent="0">
              <a:buNone/>
            </a:pPr>
            <a:r>
              <a:rPr lang="en-GB" sz="2000" dirty="0"/>
              <a:t>The NHS Diabetes Prevention Programme (NHS DPP) is a joint commitment from NHS England, Public Health England and Diabetes UK to deliver, at scale, evidence based behavioural interventions that can prevent or delay the onset of Type 2 diabetes in adults who have been identified as having non-diabetic hyperglycaemia.</a:t>
            </a:r>
          </a:p>
        </p:txBody>
      </p:sp>
      <p:sp>
        <p:nvSpPr>
          <p:cNvPr id="3" name="TextBox 2">
            <a:extLst>
              <a:ext uri="{FF2B5EF4-FFF2-40B4-BE49-F238E27FC236}">
                <a16:creationId xmlns:a16="http://schemas.microsoft.com/office/drawing/2014/main" id="{56D152D9-13BA-48C0-B749-F4CA3C9693F8}"/>
              </a:ext>
            </a:extLst>
          </p:cNvPr>
          <p:cNvSpPr txBox="1"/>
          <p:nvPr/>
        </p:nvSpPr>
        <p:spPr>
          <a:xfrm>
            <a:off x="1547664" y="2946336"/>
            <a:ext cx="7596336" cy="2462213"/>
          </a:xfrm>
          <a:prstGeom prst="rect">
            <a:avLst/>
          </a:prstGeom>
          <a:solidFill>
            <a:schemeClr val="accent4">
              <a:lumMod val="20000"/>
              <a:lumOff val="80000"/>
            </a:schemeClr>
          </a:solidFill>
        </p:spPr>
        <p:txBody>
          <a:bodyPr wrap="square" rIns="180000" rtlCol="0">
            <a:spAutoFit/>
          </a:bodyPr>
          <a:lstStyle/>
          <a:p>
            <a:r>
              <a:rPr lang="en-GB" sz="2400" b="1" spc="-40" dirty="0">
                <a:solidFill>
                  <a:schemeClr val="accent1"/>
                </a:solidFill>
                <a:latin typeface="+mj-lt"/>
                <a:ea typeface="+mj-ea"/>
                <a:cs typeface="+mj-cs"/>
              </a:rPr>
              <a:t> </a:t>
            </a:r>
          </a:p>
          <a:p>
            <a:endParaRPr lang="en-GB" dirty="0"/>
          </a:p>
          <a:p>
            <a:r>
              <a:rPr lang="en-GB" sz="1600" dirty="0"/>
              <a:t>Non-diabetic hyperglycaemia refers to blood glucose levels that are above normal but not in the diabetic range (HbA1c 42-47 mmol/mol (6.0-6.4%) or fasting plasma glucose 5.5-6.9 mmol/l).  </a:t>
            </a:r>
          </a:p>
          <a:p>
            <a:endParaRPr lang="en-GB" sz="1600" dirty="0"/>
          </a:p>
          <a:p>
            <a:r>
              <a:rPr lang="en-GB" sz="1600" dirty="0"/>
              <a:t>People with non-diabetic hyperglycaemia are at increased risk of developing Type 2 diabetes. They are also at increased risk of other cardiovascular conditions.</a:t>
            </a:r>
          </a:p>
        </p:txBody>
      </p:sp>
      <p:sp>
        <p:nvSpPr>
          <p:cNvPr id="5" name="Rectangle 4">
            <a:extLst>
              <a:ext uri="{FF2B5EF4-FFF2-40B4-BE49-F238E27FC236}">
                <a16:creationId xmlns:a16="http://schemas.microsoft.com/office/drawing/2014/main" id="{AB529EF3-87C9-48AF-B436-704077BB7F09}"/>
              </a:ext>
            </a:extLst>
          </p:cNvPr>
          <p:cNvSpPr/>
          <p:nvPr/>
        </p:nvSpPr>
        <p:spPr>
          <a:xfrm>
            <a:off x="352800" y="5503329"/>
            <a:ext cx="8424936" cy="1015663"/>
          </a:xfrm>
          <a:prstGeom prst="rect">
            <a:avLst/>
          </a:prstGeom>
        </p:spPr>
        <p:txBody>
          <a:bodyPr wrap="square">
            <a:spAutoFit/>
          </a:bodyPr>
          <a:lstStyle/>
          <a:p>
            <a:r>
              <a:rPr lang="en-GB" sz="1600" dirty="0"/>
              <a:t>This report uses data collected alongside the National Diabetes Audit (NDA) for the period January 2017 to March 2018 inclusive. </a:t>
            </a:r>
          </a:p>
          <a:p>
            <a:endParaRPr lang="en-GB" sz="1100" dirty="0"/>
          </a:p>
          <a:p>
            <a:r>
              <a:rPr lang="en-GB" sz="1600" dirty="0"/>
              <a:t>This report is for England only. Unlike the NDA, it does not include information on Wales.</a:t>
            </a:r>
          </a:p>
        </p:txBody>
      </p:sp>
      <p:sp>
        <p:nvSpPr>
          <p:cNvPr id="8" name="TextBox 7">
            <a:extLst>
              <a:ext uri="{FF2B5EF4-FFF2-40B4-BE49-F238E27FC236}">
                <a16:creationId xmlns:a16="http://schemas.microsoft.com/office/drawing/2014/main" id="{E607890F-BC73-4451-B2D6-EFF18C0C1484}"/>
              </a:ext>
            </a:extLst>
          </p:cNvPr>
          <p:cNvSpPr txBox="1"/>
          <p:nvPr/>
        </p:nvSpPr>
        <p:spPr>
          <a:xfrm>
            <a:off x="1" y="2946336"/>
            <a:ext cx="5436095" cy="461665"/>
          </a:xfrm>
          <a:prstGeom prst="rect">
            <a:avLst/>
          </a:prstGeom>
          <a:solidFill>
            <a:schemeClr val="accent4">
              <a:lumMod val="20000"/>
              <a:lumOff val="80000"/>
            </a:schemeClr>
          </a:solidFill>
        </p:spPr>
        <p:txBody>
          <a:bodyPr wrap="square" rtlCol="0">
            <a:spAutoFit/>
          </a:bodyPr>
          <a:lstStyle/>
          <a:p>
            <a:r>
              <a:rPr lang="en-GB" sz="2400" b="1" spc="-40" dirty="0">
                <a:solidFill>
                  <a:schemeClr val="accent1"/>
                </a:solidFill>
              </a:rPr>
              <a:t>Non-Diabetic Hyperglycaemia </a:t>
            </a:r>
          </a:p>
        </p:txBody>
      </p:sp>
      <p:sp>
        <p:nvSpPr>
          <p:cNvPr id="10" name="TextBox 9">
            <a:extLst>
              <a:ext uri="{FF2B5EF4-FFF2-40B4-BE49-F238E27FC236}">
                <a16:creationId xmlns:a16="http://schemas.microsoft.com/office/drawing/2014/main" id="{EE53C27C-CC07-41E8-9FE9-24617D2EE46E}"/>
              </a:ext>
            </a:extLst>
          </p:cNvPr>
          <p:cNvSpPr txBox="1"/>
          <p:nvPr/>
        </p:nvSpPr>
        <p:spPr>
          <a:xfrm>
            <a:off x="1" y="3315668"/>
            <a:ext cx="1547663" cy="2092881"/>
          </a:xfrm>
          <a:prstGeom prst="rect">
            <a:avLst/>
          </a:prstGeom>
          <a:solidFill>
            <a:schemeClr val="accent4">
              <a:lumMod val="20000"/>
              <a:lumOff val="80000"/>
            </a:schemeClr>
          </a:solidFill>
        </p:spPr>
        <p:txBody>
          <a:bodyPr wrap="square" rtlCol="0">
            <a:spAutoFit/>
          </a:bodyPr>
          <a:lstStyle/>
          <a:p>
            <a:endParaRPr lang="en-GB" sz="2600" b="1" spc="-40" dirty="0">
              <a:solidFill>
                <a:schemeClr val="accent1"/>
              </a:solidFill>
            </a:endParaRPr>
          </a:p>
          <a:p>
            <a:r>
              <a:rPr lang="en-GB" sz="2600" b="1" spc="-40" dirty="0">
                <a:solidFill>
                  <a:schemeClr val="accent1"/>
                </a:solidFill>
              </a:rPr>
              <a:t> </a:t>
            </a:r>
          </a:p>
          <a:p>
            <a:endParaRPr lang="en-GB" sz="2600" b="1" spc="-40" dirty="0">
              <a:solidFill>
                <a:schemeClr val="accent1"/>
              </a:solidFill>
            </a:endParaRPr>
          </a:p>
          <a:p>
            <a:endParaRPr lang="en-GB" sz="2600" b="1" spc="-40" dirty="0">
              <a:solidFill>
                <a:schemeClr val="accent1"/>
              </a:solidFill>
            </a:endParaRPr>
          </a:p>
          <a:p>
            <a:endParaRPr lang="en-GB" sz="2600" b="1" spc="-40" dirty="0">
              <a:solidFill>
                <a:schemeClr val="accent1"/>
              </a:solidFill>
            </a:endParaRPr>
          </a:p>
        </p:txBody>
      </p:sp>
      <p:pic>
        <p:nvPicPr>
          <p:cNvPr id="9" name="Picture 8">
            <a:extLst>
              <a:ext uri="{FF2B5EF4-FFF2-40B4-BE49-F238E27FC236}">
                <a16:creationId xmlns:a16="http://schemas.microsoft.com/office/drawing/2014/main" id="{DADDFF47-EEAA-436B-B369-5C76653F9AED}"/>
              </a:ext>
            </a:extLst>
          </p:cNvPr>
          <p:cNvPicPr>
            <a:picLocks noChangeAspect="1"/>
          </p:cNvPicPr>
          <p:nvPr/>
        </p:nvPicPr>
        <p:blipFill>
          <a:blip r:embed="rId2"/>
          <a:stretch>
            <a:fillRect/>
          </a:stretch>
        </p:blipFill>
        <p:spPr>
          <a:xfrm>
            <a:off x="59457" y="3662616"/>
            <a:ext cx="1428750" cy="1438275"/>
          </a:xfrm>
          <a:prstGeom prst="rect">
            <a:avLst/>
          </a:prstGeom>
        </p:spPr>
      </p:pic>
    </p:spTree>
    <p:extLst>
      <p:ext uri="{BB962C8B-B14F-4D97-AF65-F5344CB8AC3E}">
        <p14:creationId xmlns:p14="http://schemas.microsoft.com/office/powerpoint/2010/main" val="1001966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332656"/>
            <a:ext cx="7604497" cy="521640"/>
          </a:xfrm>
        </p:spPr>
        <p:txBody>
          <a:bodyPr>
            <a:normAutofit/>
          </a:bodyPr>
          <a:lstStyle/>
          <a:p>
            <a:r>
              <a:rPr lang="en-GB" sz="3200" dirty="0"/>
              <a:t>Registrations</a:t>
            </a:r>
            <a:endParaRPr lang="en-GB" sz="3300" dirty="0"/>
          </a:p>
        </p:txBody>
      </p:sp>
      <p:sp>
        <p:nvSpPr>
          <p:cNvPr id="4" name="Slide Number Placeholder 3"/>
          <p:cNvSpPr>
            <a:spLocks noGrp="1"/>
          </p:cNvSpPr>
          <p:nvPr>
            <p:ph type="sldNum" sz="quarter" idx="12"/>
          </p:nvPr>
        </p:nvSpPr>
        <p:spPr>
          <a:xfrm>
            <a:off x="6300192" y="6300000"/>
            <a:ext cx="2133600" cy="365125"/>
          </a:xfrm>
        </p:spPr>
        <p:txBody>
          <a:bodyPr/>
          <a:lstStyle/>
          <a:p>
            <a:fld id="{280AA684-6FB9-400F-B313-F111F0F48737}" type="slidenum">
              <a:rPr lang="en-GB" smtClean="0"/>
              <a:t>3</a:t>
            </a:fld>
            <a:endParaRPr lang="en-GB" dirty="0"/>
          </a:p>
        </p:txBody>
      </p:sp>
      <p:sp>
        <p:nvSpPr>
          <p:cNvPr id="6" name="Rectangle 5"/>
          <p:cNvSpPr/>
          <p:nvPr/>
        </p:nvSpPr>
        <p:spPr>
          <a:xfrm>
            <a:off x="539552" y="2189740"/>
            <a:ext cx="8136904" cy="646331"/>
          </a:xfrm>
          <a:prstGeom prst="rect">
            <a:avLst/>
          </a:prstGeom>
        </p:spPr>
        <p:txBody>
          <a:bodyPr wrap="square">
            <a:spAutoFit/>
          </a:bodyPr>
          <a:lstStyle/>
          <a:p>
            <a:r>
              <a:rPr lang="en-GB" b="1" dirty="0">
                <a:solidFill>
                  <a:schemeClr val="accent1"/>
                </a:solidFill>
              </a:rPr>
              <a:t>Table 1: Registrations and prevalence</a:t>
            </a:r>
            <a:r>
              <a:rPr lang="en-GB" b="1" baseline="30000" dirty="0">
                <a:solidFill>
                  <a:schemeClr val="accent1"/>
                </a:solidFill>
              </a:rPr>
              <a:t>1,2</a:t>
            </a:r>
            <a:r>
              <a:rPr lang="en-GB" b="1" dirty="0">
                <a:solidFill>
                  <a:schemeClr val="accent1"/>
                </a:solidFill>
              </a:rPr>
              <a:t>, Type 2 diabetes and non-diabetic hyperglycaemia, 2017-18, England</a:t>
            </a:r>
          </a:p>
        </p:txBody>
      </p:sp>
      <p:sp>
        <p:nvSpPr>
          <p:cNvPr id="3" name="TextBox 2">
            <a:extLst>
              <a:ext uri="{FF2B5EF4-FFF2-40B4-BE49-F238E27FC236}">
                <a16:creationId xmlns:a16="http://schemas.microsoft.com/office/drawing/2014/main" id="{EBA52BDB-008E-4861-9B40-8B3658CD52BF}"/>
              </a:ext>
            </a:extLst>
          </p:cNvPr>
          <p:cNvSpPr txBox="1"/>
          <p:nvPr/>
        </p:nvSpPr>
        <p:spPr>
          <a:xfrm>
            <a:off x="540000" y="4460150"/>
            <a:ext cx="5647954" cy="1477328"/>
          </a:xfrm>
          <a:prstGeom prst="rect">
            <a:avLst/>
          </a:prstGeom>
          <a:noFill/>
        </p:spPr>
        <p:txBody>
          <a:bodyPr wrap="square" rtlCol="0">
            <a:spAutoFit/>
          </a:bodyPr>
          <a:lstStyle/>
          <a:p>
            <a:r>
              <a:rPr lang="en-GB" dirty="0"/>
              <a:t>The National Cardiovascular Intelligence Network (NCVIN) estimates there are 4 million people with Type 2 diabetes and 5 million people with non-diabetic hyperglycaemia in England: </a:t>
            </a:r>
          </a:p>
          <a:p>
            <a:r>
              <a:rPr lang="en-GB" dirty="0">
                <a:solidFill>
                  <a:srgbClr val="005EB8"/>
                </a:solidFill>
                <a:hlinkClick r:id="rId2"/>
              </a:rPr>
              <a:t>Estimates of CVD prevalence at www.gov.uk</a:t>
            </a:r>
            <a:r>
              <a:rPr lang="en-GB" dirty="0"/>
              <a:t> </a:t>
            </a:r>
          </a:p>
        </p:txBody>
      </p:sp>
      <p:sp>
        <p:nvSpPr>
          <p:cNvPr id="7" name="TextBox 6">
            <a:extLst>
              <a:ext uri="{FF2B5EF4-FFF2-40B4-BE49-F238E27FC236}">
                <a16:creationId xmlns:a16="http://schemas.microsoft.com/office/drawing/2014/main" id="{C871ACFC-519F-4911-AE8A-0B7ABD17C746}"/>
              </a:ext>
            </a:extLst>
          </p:cNvPr>
          <p:cNvSpPr txBox="1"/>
          <p:nvPr/>
        </p:nvSpPr>
        <p:spPr>
          <a:xfrm>
            <a:off x="539552" y="1465394"/>
            <a:ext cx="7704856" cy="646331"/>
          </a:xfrm>
          <a:prstGeom prst="rect">
            <a:avLst/>
          </a:prstGeom>
          <a:noFill/>
        </p:spPr>
        <p:txBody>
          <a:bodyPr wrap="square" rtlCol="0">
            <a:spAutoFit/>
          </a:bodyPr>
          <a:lstStyle/>
          <a:p>
            <a:r>
              <a:rPr lang="en-GB" dirty="0"/>
              <a:t>There are 2.9 million people in England with diagnosed Type 2 diabetes, and 1.3 million with recorded non-diabetic hyperglycaemia.</a:t>
            </a:r>
          </a:p>
        </p:txBody>
      </p:sp>
      <p:pic>
        <p:nvPicPr>
          <p:cNvPr id="5" name="Picture 4">
            <a:extLst>
              <a:ext uri="{FF2B5EF4-FFF2-40B4-BE49-F238E27FC236}">
                <a16:creationId xmlns:a16="http://schemas.microsoft.com/office/drawing/2014/main" id="{72CC7598-8C58-4334-9893-B3F99CE61E46}"/>
              </a:ext>
            </a:extLst>
          </p:cNvPr>
          <p:cNvPicPr>
            <a:picLocks noChangeAspect="1"/>
          </p:cNvPicPr>
          <p:nvPr/>
        </p:nvPicPr>
        <p:blipFill>
          <a:blip r:embed="rId3"/>
          <a:stretch>
            <a:fillRect/>
          </a:stretch>
        </p:blipFill>
        <p:spPr>
          <a:xfrm>
            <a:off x="6768553" y="4470628"/>
            <a:ext cx="1762125" cy="1466850"/>
          </a:xfrm>
          <a:prstGeom prst="rect">
            <a:avLst/>
          </a:prstGeom>
        </p:spPr>
      </p:pic>
      <p:graphicFrame>
        <p:nvGraphicFramePr>
          <p:cNvPr id="10" name="Table 9">
            <a:extLst>
              <a:ext uri="{FF2B5EF4-FFF2-40B4-BE49-F238E27FC236}">
                <a16:creationId xmlns:a16="http://schemas.microsoft.com/office/drawing/2014/main" id="{E7539BEB-47CA-4FAE-BFFF-4DEB8AEB885D}"/>
              </a:ext>
            </a:extLst>
          </p:cNvPr>
          <p:cNvGraphicFramePr>
            <a:graphicFrameLocks noGrp="1"/>
          </p:cNvGraphicFramePr>
          <p:nvPr>
            <p:extLst>
              <p:ext uri="{D42A27DB-BD31-4B8C-83A1-F6EECF244321}">
                <p14:modId xmlns:p14="http://schemas.microsoft.com/office/powerpoint/2010/main" val="299806856"/>
              </p:ext>
            </p:extLst>
          </p:nvPr>
        </p:nvGraphicFramePr>
        <p:xfrm>
          <a:off x="107504" y="6300000"/>
          <a:ext cx="5923952" cy="485775"/>
        </p:xfrm>
        <a:graphic>
          <a:graphicData uri="http://schemas.openxmlformats.org/drawingml/2006/table">
            <a:tbl>
              <a:tblPr/>
              <a:tblGrid>
                <a:gridCol w="5923952">
                  <a:extLst>
                    <a:ext uri="{9D8B030D-6E8A-4147-A177-3AD203B41FA5}">
                      <a16:colId xmlns:a16="http://schemas.microsoft.com/office/drawing/2014/main" val="3711514739"/>
                    </a:ext>
                  </a:extLst>
                </a:gridCol>
              </a:tblGrid>
              <a:tr h="44227">
                <a:tc>
                  <a:txBody>
                    <a:bodyPr/>
                    <a:lstStyle/>
                    <a:p>
                      <a:pPr algn="l" fontAlgn="b"/>
                      <a:r>
                        <a:rPr lang="en-GB" sz="1000" b="1" i="0" u="none" strike="noStrike" dirty="0">
                          <a:solidFill>
                            <a:srgbClr val="000000"/>
                          </a:solidFill>
                          <a:effectLst/>
                          <a:latin typeface="Arial" panose="020B0604020202020204" pitchFamily="34" charset="0"/>
                        </a:rPr>
                        <a:t>Notes:</a:t>
                      </a:r>
                    </a:p>
                  </a:txBody>
                  <a:tcPr marL="9525" marR="9525" marT="9525" marB="0" anchor="b">
                    <a:lnL>
                      <a:noFill/>
                    </a:lnL>
                    <a:lnR>
                      <a:noFill/>
                    </a:lnR>
                    <a:lnT>
                      <a:noFill/>
                    </a:lnT>
                    <a:lnB>
                      <a:noFill/>
                    </a:lnB>
                  </a:tcPr>
                </a:tc>
                <a:extLst>
                  <a:ext uri="{0D108BD9-81ED-4DB2-BD59-A6C34878D82A}">
                    <a16:rowId xmlns:a16="http://schemas.microsoft.com/office/drawing/2014/main" val="3075553905"/>
                  </a:ext>
                </a:extLst>
              </a:tr>
              <a:tr h="161925">
                <a:tc>
                  <a:txBody>
                    <a:bodyPr/>
                    <a:lstStyle/>
                    <a:p>
                      <a:pPr algn="l" fontAlgn="b"/>
                      <a:r>
                        <a:rPr lang="en-GB" sz="1000" b="0" i="0" u="none" strike="noStrike" dirty="0">
                          <a:solidFill>
                            <a:srgbClr val="000000"/>
                          </a:solidFill>
                          <a:effectLst/>
                          <a:latin typeface="Arial" panose="020B0604020202020204" pitchFamily="34" charset="0"/>
                        </a:rPr>
                        <a:t>1. People included: aged 15 years and over (with a known, valid date of birth). </a:t>
                      </a:r>
                    </a:p>
                  </a:txBody>
                  <a:tcPr marL="9525" marR="9525" marT="9525" marB="0" anchor="b">
                    <a:lnL>
                      <a:noFill/>
                    </a:lnL>
                    <a:lnR>
                      <a:noFill/>
                    </a:lnR>
                    <a:lnT>
                      <a:noFill/>
                    </a:lnT>
                    <a:lnB>
                      <a:noFill/>
                    </a:lnB>
                  </a:tcPr>
                </a:tc>
                <a:extLst>
                  <a:ext uri="{0D108BD9-81ED-4DB2-BD59-A6C34878D82A}">
                    <a16:rowId xmlns:a16="http://schemas.microsoft.com/office/drawing/2014/main" val="1987800767"/>
                  </a:ext>
                </a:extLst>
              </a:tr>
              <a:tr h="161925">
                <a:tc>
                  <a:txBody>
                    <a:bodyPr/>
                    <a:lstStyle/>
                    <a:p>
                      <a:pPr algn="l" fontAlgn="b"/>
                      <a:r>
                        <a:rPr lang="en-GB" sz="1000" b="0" i="0" u="none" strike="noStrike" dirty="0">
                          <a:solidFill>
                            <a:srgbClr val="000000"/>
                          </a:solidFill>
                          <a:effectLst/>
                          <a:latin typeface="Arial" panose="020B0604020202020204" pitchFamily="34" charset="0"/>
                        </a:rPr>
                        <a:t>2. People included: registered at a GP practice that participated in NDA 2017-18.</a:t>
                      </a:r>
                    </a:p>
                  </a:txBody>
                  <a:tcPr marL="9525" marR="9525" marT="9525" marB="0" anchor="b">
                    <a:lnL>
                      <a:noFill/>
                    </a:lnL>
                    <a:lnR>
                      <a:noFill/>
                    </a:lnR>
                    <a:lnT>
                      <a:noFill/>
                    </a:lnT>
                    <a:lnB>
                      <a:noFill/>
                    </a:lnB>
                  </a:tcPr>
                </a:tc>
                <a:extLst>
                  <a:ext uri="{0D108BD9-81ED-4DB2-BD59-A6C34878D82A}">
                    <a16:rowId xmlns:a16="http://schemas.microsoft.com/office/drawing/2014/main" val="2427267975"/>
                  </a:ext>
                </a:extLst>
              </a:tr>
            </a:tbl>
          </a:graphicData>
        </a:graphic>
      </p:graphicFrame>
      <p:pic>
        <p:nvPicPr>
          <p:cNvPr id="9" name="Picture 8">
            <a:extLst>
              <a:ext uri="{FF2B5EF4-FFF2-40B4-BE49-F238E27FC236}">
                <a16:creationId xmlns:a16="http://schemas.microsoft.com/office/drawing/2014/main" id="{DF0CBDC9-7D4D-4F5D-B88E-16A78F430C50}"/>
              </a:ext>
            </a:extLst>
          </p:cNvPr>
          <p:cNvPicPr>
            <a:picLocks noChangeAspect="1"/>
          </p:cNvPicPr>
          <p:nvPr/>
        </p:nvPicPr>
        <p:blipFill>
          <a:blip r:embed="rId4"/>
          <a:stretch>
            <a:fillRect/>
          </a:stretch>
        </p:blipFill>
        <p:spPr>
          <a:xfrm>
            <a:off x="611560" y="3009600"/>
            <a:ext cx="6296025" cy="1190625"/>
          </a:xfrm>
          <a:prstGeom prst="rect">
            <a:avLst/>
          </a:prstGeom>
        </p:spPr>
      </p:pic>
    </p:spTree>
    <p:extLst>
      <p:ext uri="{BB962C8B-B14F-4D97-AF65-F5344CB8AC3E}">
        <p14:creationId xmlns:p14="http://schemas.microsoft.com/office/powerpoint/2010/main" val="2747077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D7D7C-776E-4428-92B6-E8F328854BF7}"/>
              </a:ext>
            </a:extLst>
          </p:cNvPr>
          <p:cNvSpPr>
            <a:spLocks noGrp="1"/>
          </p:cNvSpPr>
          <p:nvPr>
            <p:ph type="title"/>
          </p:nvPr>
        </p:nvSpPr>
        <p:spPr>
          <a:xfrm>
            <a:off x="540000" y="331200"/>
            <a:ext cx="8613394" cy="567432"/>
          </a:xfrm>
        </p:spPr>
        <p:txBody>
          <a:bodyPr>
            <a:noAutofit/>
          </a:bodyPr>
          <a:lstStyle/>
          <a:p>
            <a:r>
              <a:rPr lang="en-GB" sz="3300" dirty="0"/>
              <a:t>NHS Diabetes Prevention Programme</a:t>
            </a:r>
          </a:p>
        </p:txBody>
      </p:sp>
      <p:sp>
        <p:nvSpPr>
          <p:cNvPr id="3" name="Content Placeholder 2">
            <a:extLst>
              <a:ext uri="{FF2B5EF4-FFF2-40B4-BE49-F238E27FC236}">
                <a16:creationId xmlns:a16="http://schemas.microsoft.com/office/drawing/2014/main" id="{AA7AD50C-4318-4AFC-A3A0-856FFF40E1CA}"/>
              </a:ext>
            </a:extLst>
          </p:cNvPr>
          <p:cNvSpPr>
            <a:spLocks noGrp="1"/>
          </p:cNvSpPr>
          <p:nvPr>
            <p:ph idx="1"/>
          </p:nvPr>
        </p:nvSpPr>
        <p:spPr>
          <a:xfrm>
            <a:off x="543402" y="4608705"/>
            <a:ext cx="4496649" cy="1202353"/>
          </a:xfrm>
        </p:spPr>
        <p:txBody>
          <a:bodyPr>
            <a:normAutofit/>
          </a:bodyPr>
          <a:lstStyle/>
          <a:p>
            <a:pPr marL="0" indent="0">
              <a:buNone/>
            </a:pPr>
            <a:r>
              <a:rPr lang="en-GB" sz="1600" dirty="0"/>
              <a:t>The GP </a:t>
            </a:r>
            <a:r>
              <a:rPr lang="en-GB" sz="1600" dirty="0">
                <a:solidFill>
                  <a:schemeClr val="tx1"/>
                </a:solidFill>
              </a:rPr>
              <a:t>record data shows that </a:t>
            </a:r>
          </a:p>
          <a:p>
            <a:r>
              <a:rPr lang="en-GB" sz="1600" dirty="0">
                <a:solidFill>
                  <a:schemeClr val="tx1"/>
                </a:solidFill>
              </a:rPr>
              <a:t>160,475 people are offered attendance on a prevention course. </a:t>
            </a:r>
          </a:p>
          <a:p>
            <a:r>
              <a:rPr lang="en-GB" sz="1600" dirty="0">
                <a:solidFill>
                  <a:schemeClr val="tx1"/>
                </a:solidFill>
              </a:rPr>
              <a:t>57,180 of these people decline the offer.</a:t>
            </a:r>
            <a:endParaRPr lang="en-GB" sz="3700" dirty="0"/>
          </a:p>
        </p:txBody>
      </p:sp>
      <p:sp>
        <p:nvSpPr>
          <p:cNvPr id="4" name="Slide Number Placeholder 3">
            <a:extLst>
              <a:ext uri="{FF2B5EF4-FFF2-40B4-BE49-F238E27FC236}">
                <a16:creationId xmlns:a16="http://schemas.microsoft.com/office/drawing/2014/main" id="{C39D8CE0-2CCA-4732-80D1-7D1FD5862460}"/>
              </a:ext>
            </a:extLst>
          </p:cNvPr>
          <p:cNvSpPr>
            <a:spLocks noGrp="1"/>
          </p:cNvSpPr>
          <p:nvPr>
            <p:ph type="sldNum" sz="quarter" idx="12"/>
          </p:nvPr>
        </p:nvSpPr>
        <p:spPr/>
        <p:txBody>
          <a:bodyPr/>
          <a:lstStyle/>
          <a:p>
            <a:fld id="{280AA684-6FB9-400F-B313-F111F0F48737}" type="slidenum">
              <a:rPr lang="en-GB" smtClean="0"/>
              <a:t>4</a:t>
            </a:fld>
            <a:endParaRPr lang="en-GB" dirty="0"/>
          </a:p>
        </p:txBody>
      </p:sp>
      <p:sp>
        <p:nvSpPr>
          <p:cNvPr id="14" name="TextBox 13">
            <a:extLst>
              <a:ext uri="{FF2B5EF4-FFF2-40B4-BE49-F238E27FC236}">
                <a16:creationId xmlns:a16="http://schemas.microsoft.com/office/drawing/2014/main" id="{86205D51-4BE3-4316-8865-6E29CE13FA68}"/>
              </a:ext>
            </a:extLst>
          </p:cNvPr>
          <p:cNvSpPr txBox="1"/>
          <p:nvPr/>
        </p:nvSpPr>
        <p:spPr>
          <a:xfrm>
            <a:off x="467544" y="2564904"/>
            <a:ext cx="9145016" cy="646331"/>
          </a:xfrm>
          <a:prstGeom prst="rect">
            <a:avLst/>
          </a:prstGeom>
          <a:noFill/>
        </p:spPr>
        <p:txBody>
          <a:bodyPr wrap="square" rtlCol="0">
            <a:spAutoFit/>
          </a:bodyPr>
          <a:lstStyle/>
          <a:p>
            <a:r>
              <a:rPr lang="en-GB" b="1" dirty="0">
                <a:solidFill>
                  <a:schemeClr val="accent1"/>
                </a:solidFill>
              </a:rPr>
              <a:t>Table 2: Offers for DPP behavioural change courses</a:t>
            </a:r>
            <a:r>
              <a:rPr lang="en-GB" b="1" baseline="30000" dirty="0">
                <a:solidFill>
                  <a:schemeClr val="accent1"/>
                </a:solidFill>
              </a:rPr>
              <a:t>1,2</a:t>
            </a:r>
            <a:r>
              <a:rPr lang="en-GB" b="1" dirty="0">
                <a:solidFill>
                  <a:schemeClr val="accent1"/>
                </a:solidFill>
              </a:rPr>
              <a:t>, non-diabetic hyperglycaemia, 2017-18, England</a:t>
            </a:r>
          </a:p>
        </p:txBody>
      </p:sp>
      <p:sp>
        <p:nvSpPr>
          <p:cNvPr id="5" name="TextBox 4">
            <a:extLst>
              <a:ext uri="{FF2B5EF4-FFF2-40B4-BE49-F238E27FC236}">
                <a16:creationId xmlns:a16="http://schemas.microsoft.com/office/drawing/2014/main" id="{F05D323D-A814-481E-A80F-9E4610DB2D28}"/>
              </a:ext>
            </a:extLst>
          </p:cNvPr>
          <p:cNvSpPr txBox="1"/>
          <p:nvPr/>
        </p:nvSpPr>
        <p:spPr>
          <a:xfrm>
            <a:off x="467545" y="1772816"/>
            <a:ext cx="8208912" cy="584775"/>
          </a:xfrm>
          <a:prstGeom prst="rect">
            <a:avLst/>
          </a:prstGeom>
          <a:noFill/>
        </p:spPr>
        <p:txBody>
          <a:bodyPr wrap="square" rtlCol="0">
            <a:spAutoFit/>
          </a:bodyPr>
          <a:lstStyle/>
          <a:p>
            <a:r>
              <a:rPr lang="en-GB" sz="1600" dirty="0"/>
              <a:t>Referrals to – and attendances at – DPP behavioural change courses are </a:t>
            </a:r>
            <a:r>
              <a:rPr lang="en-GB" sz="1600" u="sng" dirty="0"/>
              <a:t>sometimes</a:t>
            </a:r>
            <a:r>
              <a:rPr lang="en-GB" sz="1600" dirty="0"/>
              <a:t> recorded in GP records, </a:t>
            </a:r>
            <a:r>
              <a:rPr lang="en-GB" sz="1600" u="sng" dirty="0"/>
              <a:t>but</a:t>
            </a:r>
            <a:r>
              <a:rPr lang="en-GB" sz="1600" dirty="0"/>
              <a:t> the data is not complete. </a:t>
            </a:r>
          </a:p>
        </p:txBody>
      </p:sp>
      <p:sp>
        <p:nvSpPr>
          <p:cNvPr id="8" name="Title 1">
            <a:extLst>
              <a:ext uri="{FF2B5EF4-FFF2-40B4-BE49-F238E27FC236}">
                <a16:creationId xmlns:a16="http://schemas.microsoft.com/office/drawing/2014/main" id="{29CDC301-A52E-47FC-B780-F38F2677666F}"/>
              </a:ext>
            </a:extLst>
          </p:cNvPr>
          <p:cNvSpPr txBox="1">
            <a:spLocks/>
          </p:cNvSpPr>
          <p:nvPr/>
        </p:nvSpPr>
        <p:spPr>
          <a:xfrm>
            <a:off x="540000" y="1295683"/>
            <a:ext cx="8613394" cy="467841"/>
          </a:xfrm>
          <a:prstGeom prst="rect">
            <a:avLst/>
          </a:prstGeom>
        </p:spPr>
        <p:txBody>
          <a:bodyPr vert="horz" lIns="0" tIns="0" rIns="0" bIns="0" rtlCol="0" anchor="t">
            <a:noAutofit/>
          </a:bodyPr>
          <a:lstStyle>
            <a:lvl1pPr algn="l" defTabSz="914400" rtl="0" eaLnBrk="1" latinLnBrk="0" hangingPunct="1">
              <a:spcBef>
                <a:spcPct val="0"/>
              </a:spcBef>
              <a:buNone/>
              <a:defRPr sz="3000" b="1" kern="1200" spc="-40" baseline="0">
                <a:solidFill>
                  <a:schemeClr val="accent1"/>
                </a:solidFill>
                <a:latin typeface="+mj-lt"/>
                <a:ea typeface="+mj-ea"/>
                <a:cs typeface="+mj-cs"/>
              </a:defRPr>
            </a:lvl1pPr>
          </a:lstStyle>
          <a:p>
            <a:r>
              <a:rPr lang="en-GB" sz="2400" dirty="0">
                <a:solidFill>
                  <a:schemeClr val="tx1"/>
                </a:solidFill>
              </a:rPr>
              <a:t>Invitation to attend and uptake of offer</a:t>
            </a:r>
          </a:p>
        </p:txBody>
      </p:sp>
      <p:sp>
        <p:nvSpPr>
          <p:cNvPr id="9" name="TextBox 8">
            <a:extLst>
              <a:ext uri="{FF2B5EF4-FFF2-40B4-BE49-F238E27FC236}">
                <a16:creationId xmlns:a16="http://schemas.microsoft.com/office/drawing/2014/main" id="{807FA1A5-DE6A-46D8-A390-C9B20ED7C419}"/>
              </a:ext>
            </a:extLst>
          </p:cNvPr>
          <p:cNvSpPr txBox="1"/>
          <p:nvPr/>
        </p:nvSpPr>
        <p:spPr>
          <a:xfrm>
            <a:off x="5436096" y="3694387"/>
            <a:ext cx="3717537" cy="2618767"/>
          </a:xfrm>
          <a:prstGeom prst="rect">
            <a:avLst/>
          </a:prstGeom>
          <a:solidFill>
            <a:srgbClr val="CBD2E6">
              <a:alpha val="50000"/>
            </a:srgbClr>
          </a:solidFill>
        </p:spPr>
        <p:txBody>
          <a:bodyPr wrap="square" lIns="180000" tIns="108000" rIns="360000" bIns="108000" rtlCol="0">
            <a:spAutoFit/>
          </a:bodyPr>
          <a:lstStyle/>
          <a:p>
            <a:r>
              <a:rPr lang="en-GB" sz="2800" b="1" dirty="0">
                <a:solidFill>
                  <a:srgbClr val="005EB8"/>
                </a:solidFill>
              </a:rPr>
              <a:t>Future plans</a:t>
            </a:r>
          </a:p>
          <a:p>
            <a:endParaRPr lang="en-GB" sz="1600" dirty="0"/>
          </a:p>
          <a:p>
            <a:r>
              <a:rPr lang="en-GB" sz="1600" dirty="0"/>
              <a:t>Once data from the Diabetes Prevention Programme providers has been linked to the GP data that forms the basis of this report, a more complete picture of referrals and attendance will be available.</a:t>
            </a:r>
          </a:p>
        </p:txBody>
      </p:sp>
      <p:pic>
        <p:nvPicPr>
          <p:cNvPr id="7" name="Picture 6">
            <a:extLst>
              <a:ext uri="{FF2B5EF4-FFF2-40B4-BE49-F238E27FC236}">
                <a16:creationId xmlns:a16="http://schemas.microsoft.com/office/drawing/2014/main" id="{3CBCFDF8-F975-48A0-8BEF-28FD757F2008}"/>
              </a:ext>
            </a:extLst>
          </p:cNvPr>
          <p:cNvPicPr>
            <a:picLocks noChangeAspect="1"/>
          </p:cNvPicPr>
          <p:nvPr/>
        </p:nvPicPr>
        <p:blipFill>
          <a:blip r:embed="rId2"/>
          <a:stretch>
            <a:fillRect/>
          </a:stretch>
        </p:blipFill>
        <p:spPr>
          <a:xfrm>
            <a:off x="540000" y="3276273"/>
            <a:ext cx="4562475" cy="952500"/>
          </a:xfrm>
          <a:prstGeom prst="rect">
            <a:avLst/>
          </a:prstGeom>
        </p:spPr>
      </p:pic>
      <p:graphicFrame>
        <p:nvGraphicFramePr>
          <p:cNvPr id="11" name="Table 10">
            <a:extLst>
              <a:ext uri="{FF2B5EF4-FFF2-40B4-BE49-F238E27FC236}">
                <a16:creationId xmlns:a16="http://schemas.microsoft.com/office/drawing/2014/main" id="{75EE8CBB-97F1-4F5E-BFAE-25DC5355F15D}"/>
              </a:ext>
            </a:extLst>
          </p:cNvPr>
          <p:cNvGraphicFramePr>
            <a:graphicFrameLocks noGrp="1"/>
          </p:cNvGraphicFramePr>
          <p:nvPr>
            <p:extLst>
              <p:ext uri="{D42A27DB-BD31-4B8C-83A1-F6EECF244321}">
                <p14:modId xmlns:p14="http://schemas.microsoft.com/office/powerpoint/2010/main" val="4267747035"/>
              </p:ext>
            </p:extLst>
          </p:nvPr>
        </p:nvGraphicFramePr>
        <p:xfrm>
          <a:off x="108000" y="6300000"/>
          <a:ext cx="4854838" cy="485775"/>
        </p:xfrm>
        <a:graphic>
          <a:graphicData uri="http://schemas.openxmlformats.org/drawingml/2006/table">
            <a:tbl>
              <a:tblPr/>
              <a:tblGrid>
                <a:gridCol w="4854838">
                  <a:extLst>
                    <a:ext uri="{9D8B030D-6E8A-4147-A177-3AD203B41FA5}">
                      <a16:colId xmlns:a16="http://schemas.microsoft.com/office/drawing/2014/main" val="1164513168"/>
                    </a:ext>
                  </a:extLst>
                </a:gridCol>
              </a:tblGrid>
              <a:tr h="161925">
                <a:tc>
                  <a:txBody>
                    <a:bodyPr/>
                    <a:lstStyle/>
                    <a:p>
                      <a:pPr algn="l" fontAlgn="b"/>
                      <a:r>
                        <a:rPr lang="en-GB" sz="1000" b="1" i="0" u="none" strike="noStrike">
                          <a:solidFill>
                            <a:srgbClr val="000000"/>
                          </a:solidFill>
                          <a:effectLst/>
                          <a:latin typeface="Arial" panose="020B0604020202020204" pitchFamily="34" charset="0"/>
                        </a:rPr>
                        <a:t>Notes:</a:t>
                      </a:r>
                    </a:p>
                  </a:txBody>
                  <a:tcPr marL="9525" marR="9525" marT="9525" marB="0" anchor="b">
                    <a:lnL>
                      <a:noFill/>
                    </a:lnL>
                    <a:lnR>
                      <a:noFill/>
                    </a:lnR>
                    <a:lnT>
                      <a:noFill/>
                    </a:lnT>
                    <a:lnB>
                      <a:noFill/>
                    </a:lnB>
                  </a:tcPr>
                </a:tc>
                <a:extLst>
                  <a:ext uri="{0D108BD9-81ED-4DB2-BD59-A6C34878D82A}">
                    <a16:rowId xmlns:a16="http://schemas.microsoft.com/office/drawing/2014/main" val="1371429357"/>
                  </a:ext>
                </a:extLst>
              </a:tr>
              <a:tr h="161925">
                <a:tc>
                  <a:txBody>
                    <a:bodyPr/>
                    <a:lstStyle/>
                    <a:p>
                      <a:pPr algn="l" fontAlgn="b"/>
                      <a:r>
                        <a:rPr lang="en-GB" sz="1000" b="0" i="0" u="none" strike="noStrike" dirty="0">
                          <a:solidFill>
                            <a:srgbClr val="000000"/>
                          </a:solidFill>
                          <a:effectLst/>
                          <a:latin typeface="Arial" panose="020B0604020202020204" pitchFamily="34" charset="0"/>
                        </a:rPr>
                        <a:t>1. People included: All ages </a:t>
                      </a:r>
                    </a:p>
                  </a:txBody>
                  <a:tcPr marL="9525" marR="9525" marT="9525" marB="0" anchor="b">
                    <a:lnL>
                      <a:noFill/>
                    </a:lnL>
                    <a:lnR>
                      <a:noFill/>
                    </a:lnR>
                    <a:lnT>
                      <a:noFill/>
                    </a:lnT>
                    <a:lnB>
                      <a:noFill/>
                    </a:lnB>
                  </a:tcPr>
                </a:tc>
                <a:extLst>
                  <a:ext uri="{0D108BD9-81ED-4DB2-BD59-A6C34878D82A}">
                    <a16:rowId xmlns:a16="http://schemas.microsoft.com/office/drawing/2014/main" val="1624219374"/>
                  </a:ext>
                </a:extLst>
              </a:tr>
              <a:tr h="161925">
                <a:tc>
                  <a:txBody>
                    <a:bodyPr/>
                    <a:lstStyle/>
                    <a:p>
                      <a:pPr algn="l" fontAlgn="b"/>
                      <a:r>
                        <a:rPr lang="en-GB" sz="1000" b="0" i="0" u="none" strike="noStrike" dirty="0">
                          <a:solidFill>
                            <a:srgbClr val="000000"/>
                          </a:solidFill>
                          <a:effectLst/>
                          <a:latin typeface="Arial" panose="020B0604020202020204" pitchFamily="34" charset="0"/>
                        </a:rPr>
                        <a:t>2. People included: registered at a GP practice that participated in NDA 2017-18.</a:t>
                      </a:r>
                    </a:p>
                  </a:txBody>
                  <a:tcPr marL="9525" marR="9525" marT="9525" marB="0" anchor="b">
                    <a:lnL>
                      <a:noFill/>
                    </a:lnL>
                    <a:lnR>
                      <a:noFill/>
                    </a:lnR>
                    <a:lnT>
                      <a:noFill/>
                    </a:lnT>
                    <a:lnB>
                      <a:noFill/>
                    </a:lnB>
                  </a:tcPr>
                </a:tc>
                <a:extLst>
                  <a:ext uri="{0D108BD9-81ED-4DB2-BD59-A6C34878D82A}">
                    <a16:rowId xmlns:a16="http://schemas.microsoft.com/office/drawing/2014/main" val="555624485"/>
                  </a:ext>
                </a:extLst>
              </a:tr>
            </a:tbl>
          </a:graphicData>
        </a:graphic>
      </p:graphicFrame>
    </p:spTree>
    <p:extLst>
      <p:ext uri="{BB962C8B-B14F-4D97-AF65-F5344CB8AC3E}">
        <p14:creationId xmlns:p14="http://schemas.microsoft.com/office/powerpoint/2010/main" val="1023017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9BB8-9966-45C3-BD30-A6D872CFCBF7}"/>
              </a:ext>
            </a:extLst>
          </p:cNvPr>
          <p:cNvSpPr>
            <a:spLocks noGrp="1"/>
          </p:cNvSpPr>
          <p:nvPr>
            <p:ph type="title"/>
          </p:nvPr>
        </p:nvSpPr>
        <p:spPr>
          <a:xfrm>
            <a:off x="683568" y="908720"/>
            <a:ext cx="7632848" cy="2952328"/>
          </a:xfrm>
        </p:spPr>
        <p:txBody>
          <a:bodyPr>
            <a:noAutofit/>
          </a:bodyPr>
          <a:lstStyle/>
          <a:p>
            <a:r>
              <a:rPr lang="en-GB" sz="4800" dirty="0"/>
              <a:t>People with Non-Diabetic Hyperglycaemia</a:t>
            </a:r>
            <a:br>
              <a:rPr lang="en-GB" sz="4800" dirty="0"/>
            </a:br>
            <a:br>
              <a:rPr lang="en-GB" sz="4800" dirty="0"/>
            </a:br>
            <a:r>
              <a:rPr lang="en-GB" sz="4800" dirty="0"/>
              <a:t>Demographics</a:t>
            </a:r>
          </a:p>
        </p:txBody>
      </p:sp>
      <p:sp>
        <p:nvSpPr>
          <p:cNvPr id="4" name="Slide Number Placeholder 3">
            <a:extLst>
              <a:ext uri="{FF2B5EF4-FFF2-40B4-BE49-F238E27FC236}">
                <a16:creationId xmlns:a16="http://schemas.microsoft.com/office/drawing/2014/main" id="{C649D9E7-9C43-4F89-A7C2-1F4C36EC73B8}"/>
              </a:ext>
            </a:extLst>
          </p:cNvPr>
          <p:cNvSpPr>
            <a:spLocks noGrp="1"/>
          </p:cNvSpPr>
          <p:nvPr>
            <p:ph type="sldNum" sz="quarter" idx="12"/>
          </p:nvPr>
        </p:nvSpPr>
        <p:spPr/>
        <p:txBody>
          <a:bodyPr/>
          <a:lstStyle/>
          <a:p>
            <a:fld id="{4F2E129E-16B7-480B-972E-C025DBFD1D53}" type="slidenum">
              <a:rPr lang="en-GB" smtClean="0"/>
              <a:pPr/>
              <a:t>5</a:t>
            </a:fld>
            <a:endParaRPr lang="en-GB" dirty="0"/>
          </a:p>
        </p:txBody>
      </p:sp>
    </p:spTree>
    <p:extLst>
      <p:ext uri="{BB962C8B-B14F-4D97-AF65-F5344CB8AC3E}">
        <p14:creationId xmlns:p14="http://schemas.microsoft.com/office/powerpoint/2010/main" val="87139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0000" y="331200"/>
            <a:ext cx="8640960" cy="648072"/>
          </a:xfrm>
        </p:spPr>
        <p:txBody>
          <a:bodyPr>
            <a:normAutofit/>
          </a:bodyPr>
          <a:lstStyle/>
          <a:p>
            <a:r>
              <a:rPr lang="en-GB" sz="3300" dirty="0"/>
              <a:t>Non-Diabetic Hyperglycaemia: Age / Sex</a:t>
            </a:r>
            <a:endParaRPr lang="en-GB" sz="2200" dirty="0"/>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6</a:t>
            </a:fld>
            <a:endParaRPr lang="en-GB" dirty="0"/>
          </a:p>
        </p:txBody>
      </p:sp>
      <p:sp>
        <p:nvSpPr>
          <p:cNvPr id="6" name="Rectangle 5"/>
          <p:cNvSpPr/>
          <p:nvPr/>
        </p:nvSpPr>
        <p:spPr>
          <a:xfrm>
            <a:off x="360000" y="1281048"/>
            <a:ext cx="8568504" cy="923330"/>
          </a:xfrm>
          <a:prstGeom prst="rect">
            <a:avLst/>
          </a:prstGeom>
        </p:spPr>
        <p:txBody>
          <a:bodyPr wrap="square">
            <a:spAutoFit/>
          </a:bodyPr>
          <a:lstStyle/>
          <a:p>
            <a:r>
              <a:rPr lang="en-GB" b="1" dirty="0">
                <a:solidFill>
                  <a:schemeClr val="accent1"/>
                </a:solidFill>
              </a:rPr>
              <a:t>Figure 1: Age distribution</a:t>
            </a:r>
            <a:r>
              <a:rPr lang="en-GB" b="1" baseline="30000" dirty="0">
                <a:solidFill>
                  <a:schemeClr val="accent1"/>
                </a:solidFill>
              </a:rPr>
              <a:t>2,3</a:t>
            </a:r>
            <a:r>
              <a:rPr lang="en-GB" b="1" dirty="0">
                <a:solidFill>
                  <a:schemeClr val="accent1"/>
                </a:solidFill>
              </a:rPr>
              <a:t>, by sex, non-diabetic hyperglycaemia (NDH), Type 2 diabetes</a:t>
            </a:r>
            <a:r>
              <a:rPr lang="en-GB" b="1" baseline="30000" dirty="0">
                <a:solidFill>
                  <a:schemeClr val="accent1"/>
                </a:solidFill>
              </a:rPr>
              <a:t>4</a:t>
            </a:r>
            <a:r>
              <a:rPr lang="en-GB" b="1" dirty="0">
                <a:solidFill>
                  <a:schemeClr val="accent1"/>
                </a:solidFill>
              </a:rPr>
              <a:t> (T2DM) and England</a:t>
            </a:r>
            <a:r>
              <a:rPr lang="en-GB" b="1" baseline="30000" dirty="0">
                <a:solidFill>
                  <a:schemeClr val="accent1"/>
                </a:solidFill>
              </a:rPr>
              <a:t>1</a:t>
            </a:r>
            <a:r>
              <a:rPr lang="en-GB" b="1" dirty="0">
                <a:solidFill>
                  <a:schemeClr val="accent1"/>
                </a:solidFill>
              </a:rPr>
              <a:t> (ONS mid-2017 estimates), 2017-18, England</a:t>
            </a:r>
          </a:p>
        </p:txBody>
      </p:sp>
      <p:sp>
        <p:nvSpPr>
          <p:cNvPr id="8" name="TextBox 7">
            <a:extLst>
              <a:ext uri="{FF2B5EF4-FFF2-40B4-BE49-F238E27FC236}">
                <a16:creationId xmlns:a16="http://schemas.microsoft.com/office/drawing/2014/main" id="{F3406225-7AC5-4D0C-B5BB-06A88874816C}"/>
              </a:ext>
            </a:extLst>
          </p:cNvPr>
          <p:cNvSpPr txBox="1"/>
          <p:nvPr/>
        </p:nvSpPr>
        <p:spPr>
          <a:xfrm>
            <a:off x="357224" y="5661248"/>
            <a:ext cx="7095096" cy="830997"/>
          </a:xfrm>
          <a:prstGeom prst="rect">
            <a:avLst/>
          </a:prstGeom>
          <a:noFill/>
        </p:spPr>
        <p:txBody>
          <a:bodyPr wrap="square" rtlCol="0">
            <a:spAutoFit/>
          </a:bodyPr>
          <a:lstStyle/>
          <a:p>
            <a:r>
              <a:rPr lang="en-GB" sz="1600" dirty="0"/>
              <a:t>The non-diabetic hyperglycaemia population and the Type 2 diabetes population are similar to one another, though a higher proportion of men have Type 2 diabetes. </a:t>
            </a:r>
          </a:p>
        </p:txBody>
      </p:sp>
      <p:pic>
        <p:nvPicPr>
          <p:cNvPr id="4" name="Picture 3">
            <a:extLst>
              <a:ext uri="{FF2B5EF4-FFF2-40B4-BE49-F238E27FC236}">
                <a16:creationId xmlns:a16="http://schemas.microsoft.com/office/drawing/2014/main" id="{75CC4EA6-1FDB-47F7-96C5-4CB62698459A}"/>
              </a:ext>
            </a:extLst>
          </p:cNvPr>
          <p:cNvPicPr>
            <a:picLocks noChangeAspect="1"/>
          </p:cNvPicPr>
          <p:nvPr/>
        </p:nvPicPr>
        <p:blipFill>
          <a:blip r:embed="rId3"/>
          <a:stretch>
            <a:fillRect/>
          </a:stretch>
        </p:blipFill>
        <p:spPr>
          <a:xfrm>
            <a:off x="417759" y="2204378"/>
            <a:ext cx="7201532" cy="3433573"/>
          </a:xfrm>
          <a:prstGeom prst="rect">
            <a:avLst/>
          </a:prstGeom>
        </p:spPr>
      </p:pic>
      <p:sp>
        <p:nvSpPr>
          <p:cNvPr id="10" name="Rectangle 9">
            <a:extLst>
              <a:ext uri="{FF2B5EF4-FFF2-40B4-BE49-F238E27FC236}">
                <a16:creationId xmlns:a16="http://schemas.microsoft.com/office/drawing/2014/main" id="{46AAC198-BD96-4F3D-84F3-8DBFECDA9A65}"/>
              </a:ext>
            </a:extLst>
          </p:cNvPr>
          <p:cNvSpPr/>
          <p:nvPr/>
        </p:nvSpPr>
        <p:spPr>
          <a:xfrm>
            <a:off x="357224" y="6453336"/>
            <a:ext cx="6638695" cy="338554"/>
          </a:xfrm>
          <a:prstGeom prst="rect">
            <a:avLst/>
          </a:prstGeom>
        </p:spPr>
        <p:txBody>
          <a:bodyPr wrap="square">
            <a:spAutoFit/>
          </a:bodyPr>
          <a:lstStyle/>
          <a:p>
            <a:r>
              <a:rPr lang="en-GB" sz="1600" dirty="0"/>
              <a:t>Both populations are markedly older than the general population.</a:t>
            </a:r>
          </a:p>
        </p:txBody>
      </p:sp>
      <p:graphicFrame>
        <p:nvGraphicFramePr>
          <p:cNvPr id="12" name="Table 11">
            <a:extLst>
              <a:ext uri="{FF2B5EF4-FFF2-40B4-BE49-F238E27FC236}">
                <a16:creationId xmlns:a16="http://schemas.microsoft.com/office/drawing/2014/main" id="{BFBD3ACC-9468-4723-8265-50509A219440}"/>
              </a:ext>
            </a:extLst>
          </p:cNvPr>
          <p:cNvGraphicFramePr>
            <a:graphicFrameLocks noGrp="1"/>
          </p:cNvGraphicFramePr>
          <p:nvPr>
            <p:extLst>
              <p:ext uri="{D42A27DB-BD31-4B8C-83A1-F6EECF244321}">
                <p14:modId xmlns:p14="http://schemas.microsoft.com/office/powerpoint/2010/main" val="1705271495"/>
              </p:ext>
            </p:extLst>
          </p:nvPr>
        </p:nvGraphicFramePr>
        <p:xfrm>
          <a:off x="7677049" y="2204378"/>
          <a:ext cx="1359447" cy="2518962"/>
        </p:xfrm>
        <a:graphic>
          <a:graphicData uri="http://schemas.openxmlformats.org/drawingml/2006/table">
            <a:tbl>
              <a:tblPr/>
              <a:tblGrid>
                <a:gridCol w="1359447">
                  <a:extLst>
                    <a:ext uri="{9D8B030D-6E8A-4147-A177-3AD203B41FA5}">
                      <a16:colId xmlns:a16="http://schemas.microsoft.com/office/drawing/2014/main" val="2668647876"/>
                    </a:ext>
                  </a:extLst>
                </a:gridCol>
              </a:tblGrid>
              <a:tr h="139275">
                <a:tc>
                  <a:txBody>
                    <a:bodyPr/>
                    <a:lstStyle/>
                    <a:p>
                      <a:pPr algn="l" fontAlgn="b"/>
                      <a:r>
                        <a:rPr lang="en-GB" sz="850" b="1" i="0" u="none" strike="noStrike" dirty="0">
                          <a:solidFill>
                            <a:srgbClr val="000000"/>
                          </a:solidFill>
                          <a:effectLst/>
                          <a:latin typeface="Arial" panose="020B0604020202020204" pitchFamily="34" charset="0"/>
                        </a:rPr>
                        <a:t>Notes:</a:t>
                      </a:r>
                    </a:p>
                  </a:txBody>
                  <a:tcPr marL="7744" marR="7744" marT="7744" marB="0" anchor="b">
                    <a:lnL>
                      <a:noFill/>
                    </a:lnL>
                    <a:lnR>
                      <a:noFill/>
                    </a:lnR>
                    <a:lnT>
                      <a:noFill/>
                    </a:lnT>
                    <a:lnB>
                      <a:noFill/>
                    </a:lnB>
                  </a:tcPr>
                </a:tc>
                <a:extLst>
                  <a:ext uri="{0D108BD9-81ED-4DB2-BD59-A6C34878D82A}">
                    <a16:rowId xmlns:a16="http://schemas.microsoft.com/office/drawing/2014/main" val="96228367"/>
                  </a:ext>
                </a:extLst>
              </a:tr>
              <a:tr h="801975">
                <a:tc>
                  <a:txBody>
                    <a:bodyPr/>
                    <a:lstStyle/>
                    <a:p>
                      <a:pPr algn="l" fontAlgn="b"/>
                      <a:r>
                        <a:rPr lang="en-GB" sz="850" b="0" i="0" u="none" strike="noStrike" dirty="0">
                          <a:solidFill>
                            <a:srgbClr val="000000"/>
                          </a:solidFill>
                          <a:effectLst/>
                          <a:latin typeface="Arial" panose="020B0604020202020204" pitchFamily="34" charset="0"/>
                        </a:rPr>
                        <a:t>1. Data taken from ONS '</a:t>
                      </a:r>
                      <a:r>
                        <a:rPr lang="en-GB" sz="850" b="0" i="0" u="none" strike="noStrike" dirty="0">
                          <a:solidFill>
                            <a:srgbClr val="000000"/>
                          </a:solidFill>
                          <a:effectLst/>
                          <a:latin typeface="Arial" panose="020B0604020202020204" pitchFamily="34" charset="0"/>
                          <a:hlinkClick r:id="rId4"/>
                        </a:rPr>
                        <a:t>Estimates of the population for the UK, England and Wales, Scotland and Northern Ireland</a:t>
                      </a:r>
                      <a:r>
                        <a:rPr lang="en-GB" sz="850" b="0" i="0" u="none" strike="noStrike" dirty="0">
                          <a:solidFill>
                            <a:srgbClr val="000000"/>
                          </a:solidFill>
                          <a:effectLst/>
                          <a:latin typeface="Arial" panose="020B0604020202020204" pitchFamily="34" charset="0"/>
                        </a:rPr>
                        <a:t>' for mid-2017.  </a:t>
                      </a:r>
                    </a:p>
                  </a:txBody>
                  <a:tcPr marL="7744" marR="7744" marT="7744" marB="0" anchor="b">
                    <a:lnL>
                      <a:noFill/>
                    </a:lnL>
                    <a:lnR>
                      <a:noFill/>
                    </a:lnR>
                    <a:lnT>
                      <a:noFill/>
                    </a:lnT>
                    <a:lnB>
                      <a:noFill/>
                    </a:lnB>
                  </a:tcPr>
                </a:tc>
                <a:extLst>
                  <a:ext uri="{0D108BD9-81ED-4DB2-BD59-A6C34878D82A}">
                    <a16:rowId xmlns:a16="http://schemas.microsoft.com/office/drawing/2014/main" val="604274826"/>
                  </a:ext>
                </a:extLst>
              </a:tr>
              <a:tr h="39890">
                <a:tc>
                  <a:txBody>
                    <a:bodyPr/>
                    <a:lstStyle/>
                    <a:p>
                      <a:pPr algn="l" fontAlgn="b"/>
                      <a:r>
                        <a:rPr lang="en-GB" sz="850" b="0" i="0" u="none" strike="noStrike" dirty="0">
                          <a:solidFill>
                            <a:srgbClr val="000000"/>
                          </a:solidFill>
                          <a:effectLst/>
                          <a:latin typeface="Arial" panose="020B0604020202020204" pitchFamily="34" charset="0"/>
                        </a:rPr>
                        <a:t>2. People included: those who are aged 15 years and over (with a known, valid date of birth). </a:t>
                      </a:r>
                    </a:p>
                  </a:txBody>
                  <a:tcPr marL="7744" marR="7744" marT="7744" marB="0" anchor="b">
                    <a:lnL>
                      <a:noFill/>
                    </a:lnL>
                    <a:lnR>
                      <a:noFill/>
                    </a:lnR>
                    <a:lnT>
                      <a:noFill/>
                    </a:lnT>
                    <a:lnB>
                      <a:noFill/>
                    </a:lnB>
                  </a:tcPr>
                </a:tc>
                <a:extLst>
                  <a:ext uri="{0D108BD9-81ED-4DB2-BD59-A6C34878D82A}">
                    <a16:rowId xmlns:a16="http://schemas.microsoft.com/office/drawing/2014/main" val="2187500164"/>
                  </a:ext>
                </a:extLst>
              </a:tr>
              <a:tr h="0">
                <a:tc>
                  <a:txBody>
                    <a:bodyPr/>
                    <a:lstStyle/>
                    <a:p>
                      <a:pPr algn="l" fontAlgn="b"/>
                      <a:r>
                        <a:rPr lang="en-GB" sz="850" b="0" i="0" u="none" strike="noStrike" dirty="0">
                          <a:solidFill>
                            <a:srgbClr val="000000"/>
                          </a:solidFill>
                          <a:effectLst/>
                          <a:latin typeface="Arial" panose="020B0604020202020204" pitchFamily="34" charset="0"/>
                        </a:rPr>
                        <a:t>3. People included (NDH, T2DM): registered at a GP practice that participated in NDA 2017-18.</a:t>
                      </a:r>
                    </a:p>
                  </a:txBody>
                  <a:tcPr marL="7744" marR="7744" marT="7744" marB="0" anchor="b">
                    <a:lnL>
                      <a:noFill/>
                    </a:lnL>
                    <a:lnR>
                      <a:noFill/>
                    </a:lnR>
                    <a:lnT>
                      <a:noFill/>
                    </a:lnT>
                    <a:lnB>
                      <a:noFill/>
                    </a:lnB>
                  </a:tcPr>
                </a:tc>
                <a:extLst>
                  <a:ext uri="{0D108BD9-81ED-4DB2-BD59-A6C34878D82A}">
                    <a16:rowId xmlns:a16="http://schemas.microsoft.com/office/drawing/2014/main" val="3485252285"/>
                  </a:ext>
                </a:extLst>
              </a:tr>
              <a:tr h="0">
                <a:tc>
                  <a:txBody>
                    <a:bodyPr/>
                    <a:lstStyle/>
                    <a:p>
                      <a:pPr algn="l" fontAlgn="b"/>
                      <a:r>
                        <a:rPr lang="en-GB" sz="850" b="0" i="0" u="none" strike="noStrike" dirty="0">
                          <a:solidFill>
                            <a:srgbClr val="000000"/>
                          </a:solidFill>
                          <a:effectLst/>
                          <a:latin typeface="Arial" panose="020B0604020202020204" pitchFamily="34" charset="0"/>
                        </a:rPr>
                        <a:t>4. People included (T2DM): those in NDA 2017-18 who did not have type 1 diabetes.</a:t>
                      </a:r>
                    </a:p>
                  </a:txBody>
                  <a:tcPr marL="7744" marR="7744" marT="7744" marB="0" anchor="b">
                    <a:lnL>
                      <a:noFill/>
                    </a:lnL>
                    <a:lnR>
                      <a:noFill/>
                    </a:lnR>
                    <a:lnT>
                      <a:noFill/>
                    </a:lnT>
                    <a:lnB>
                      <a:noFill/>
                    </a:lnB>
                  </a:tcPr>
                </a:tc>
                <a:extLst>
                  <a:ext uri="{0D108BD9-81ED-4DB2-BD59-A6C34878D82A}">
                    <a16:rowId xmlns:a16="http://schemas.microsoft.com/office/drawing/2014/main" val="726238477"/>
                  </a:ext>
                </a:extLst>
              </a:tr>
            </a:tbl>
          </a:graphicData>
        </a:graphic>
      </p:graphicFrame>
    </p:spTree>
    <p:extLst>
      <p:ext uri="{BB962C8B-B14F-4D97-AF65-F5344CB8AC3E}">
        <p14:creationId xmlns:p14="http://schemas.microsoft.com/office/powerpoint/2010/main" val="3804518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40000" y="331200"/>
            <a:ext cx="8375862" cy="648072"/>
          </a:xfrm>
        </p:spPr>
        <p:txBody>
          <a:bodyPr>
            <a:normAutofit/>
          </a:bodyPr>
          <a:lstStyle/>
          <a:p>
            <a:r>
              <a:rPr lang="en-GB" sz="3300" dirty="0"/>
              <a:t>Non-Diabetic Hyperglycaemia: Ethnicity</a:t>
            </a:r>
            <a:endParaRPr lang="en-GB" sz="2200" dirty="0"/>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7</a:t>
            </a:fld>
            <a:endParaRPr lang="en-GB" dirty="0"/>
          </a:p>
        </p:txBody>
      </p:sp>
      <p:sp>
        <p:nvSpPr>
          <p:cNvPr id="6" name="Rectangle 5"/>
          <p:cNvSpPr/>
          <p:nvPr/>
        </p:nvSpPr>
        <p:spPr>
          <a:xfrm>
            <a:off x="540000" y="1284485"/>
            <a:ext cx="7893792" cy="646331"/>
          </a:xfrm>
          <a:prstGeom prst="rect">
            <a:avLst/>
          </a:prstGeom>
        </p:spPr>
        <p:txBody>
          <a:bodyPr wrap="square">
            <a:spAutoFit/>
          </a:bodyPr>
          <a:lstStyle/>
          <a:p>
            <a:r>
              <a:rPr lang="en-GB" b="1" dirty="0">
                <a:solidFill>
                  <a:schemeClr val="accent1"/>
                </a:solidFill>
              </a:rPr>
              <a:t>Table 3: Registrations</a:t>
            </a:r>
            <a:r>
              <a:rPr lang="en-GB" b="1" baseline="30000" dirty="0">
                <a:solidFill>
                  <a:schemeClr val="accent1"/>
                </a:solidFill>
              </a:rPr>
              <a:t>1,2</a:t>
            </a:r>
            <a:r>
              <a:rPr lang="en-GB" b="1" dirty="0">
                <a:solidFill>
                  <a:schemeClr val="accent1"/>
                </a:solidFill>
              </a:rPr>
              <a:t>, by ethnicity</a:t>
            </a:r>
            <a:r>
              <a:rPr lang="en-GB" b="1" baseline="30000" dirty="0">
                <a:solidFill>
                  <a:schemeClr val="accent1"/>
                </a:solidFill>
              </a:rPr>
              <a:t>3</a:t>
            </a:r>
            <a:r>
              <a:rPr lang="en-GB" b="1" dirty="0">
                <a:solidFill>
                  <a:schemeClr val="accent1"/>
                </a:solidFill>
              </a:rPr>
              <a:t>, non-diabetic hyperglycaemia, 2017-18, England</a:t>
            </a:r>
          </a:p>
        </p:txBody>
      </p:sp>
      <p:sp>
        <p:nvSpPr>
          <p:cNvPr id="13" name="TextBox 12">
            <a:extLst>
              <a:ext uri="{FF2B5EF4-FFF2-40B4-BE49-F238E27FC236}">
                <a16:creationId xmlns:a16="http://schemas.microsoft.com/office/drawing/2014/main" id="{00EFD978-A3E6-4EBA-8812-9CA60070F394}"/>
              </a:ext>
            </a:extLst>
          </p:cNvPr>
          <p:cNvSpPr txBox="1"/>
          <p:nvPr/>
        </p:nvSpPr>
        <p:spPr>
          <a:xfrm>
            <a:off x="540000" y="3743966"/>
            <a:ext cx="4219200" cy="1323439"/>
          </a:xfrm>
          <a:prstGeom prst="rect">
            <a:avLst/>
          </a:prstGeom>
          <a:noFill/>
        </p:spPr>
        <p:txBody>
          <a:bodyPr wrap="square" rtlCol="0">
            <a:spAutoFit/>
          </a:bodyPr>
          <a:lstStyle/>
          <a:p>
            <a:r>
              <a:rPr lang="en-GB" sz="1600" dirty="0"/>
              <a:t>15.4% of people recorded</a:t>
            </a:r>
            <a:r>
              <a:rPr lang="en-GB" sz="1600" dirty="0">
                <a:solidFill>
                  <a:srgbClr val="FF0000"/>
                </a:solidFill>
              </a:rPr>
              <a:t> </a:t>
            </a:r>
            <a:r>
              <a:rPr lang="en-GB" sz="1600" dirty="0"/>
              <a:t>with non-diabetic hyperglycaemia are known to be from black, Asian and ethnic</a:t>
            </a:r>
          </a:p>
          <a:p>
            <a:r>
              <a:rPr lang="en-GB" sz="1600" dirty="0"/>
              <a:t>minority groups </a:t>
            </a:r>
          </a:p>
          <a:p>
            <a:r>
              <a:rPr lang="en-GB" sz="1600" dirty="0"/>
              <a:t>(BAME)</a:t>
            </a:r>
          </a:p>
        </p:txBody>
      </p:sp>
      <p:graphicFrame>
        <p:nvGraphicFramePr>
          <p:cNvPr id="7" name="Table 6">
            <a:extLst>
              <a:ext uri="{FF2B5EF4-FFF2-40B4-BE49-F238E27FC236}">
                <a16:creationId xmlns:a16="http://schemas.microsoft.com/office/drawing/2014/main" id="{3D3C925B-6E5B-45DA-B2BE-AD198930964E}"/>
              </a:ext>
            </a:extLst>
          </p:cNvPr>
          <p:cNvGraphicFramePr>
            <a:graphicFrameLocks noGrp="1"/>
          </p:cNvGraphicFramePr>
          <p:nvPr>
            <p:extLst>
              <p:ext uri="{D42A27DB-BD31-4B8C-83A1-F6EECF244321}">
                <p14:modId xmlns:p14="http://schemas.microsoft.com/office/powerpoint/2010/main" val="1989305836"/>
              </p:ext>
            </p:extLst>
          </p:nvPr>
        </p:nvGraphicFramePr>
        <p:xfrm>
          <a:off x="540000" y="2030815"/>
          <a:ext cx="8207708" cy="1498794"/>
        </p:xfrm>
        <a:graphic>
          <a:graphicData uri="http://schemas.openxmlformats.org/drawingml/2006/table">
            <a:tbl>
              <a:tblPr firstRow="1" bandRow="1">
                <a:tableStyleId>{5C22544A-7EE6-4342-B048-85BDC9FD1C3A}</a:tableStyleId>
              </a:tblPr>
              <a:tblGrid>
                <a:gridCol w="574860">
                  <a:extLst>
                    <a:ext uri="{9D8B030D-6E8A-4147-A177-3AD203B41FA5}">
                      <a16:colId xmlns:a16="http://schemas.microsoft.com/office/drawing/2014/main" val="2948673867"/>
                    </a:ext>
                  </a:extLst>
                </a:gridCol>
                <a:gridCol w="1134495">
                  <a:extLst>
                    <a:ext uri="{9D8B030D-6E8A-4147-A177-3AD203B41FA5}">
                      <a16:colId xmlns:a16="http://schemas.microsoft.com/office/drawing/2014/main" val="1415325986"/>
                    </a:ext>
                  </a:extLst>
                </a:gridCol>
                <a:gridCol w="1068409">
                  <a:extLst>
                    <a:ext uri="{9D8B030D-6E8A-4147-A177-3AD203B41FA5}">
                      <a16:colId xmlns:a16="http://schemas.microsoft.com/office/drawing/2014/main" val="2300064971"/>
                    </a:ext>
                  </a:extLst>
                </a:gridCol>
                <a:gridCol w="1068409">
                  <a:extLst>
                    <a:ext uri="{9D8B030D-6E8A-4147-A177-3AD203B41FA5}">
                      <a16:colId xmlns:a16="http://schemas.microsoft.com/office/drawing/2014/main" val="4205053961"/>
                    </a:ext>
                  </a:extLst>
                </a:gridCol>
                <a:gridCol w="1068409">
                  <a:extLst>
                    <a:ext uri="{9D8B030D-6E8A-4147-A177-3AD203B41FA5}">
                      <a16:colId xmlns:a16="http://schemas.microsoft.com/office/drawing/2014/main" val="3447306041"/>
                    </a:ext>
                  </a:extLst>
                </a:gridCol>
                <a:gridCol w="1068409">
                  <a:extLst>
                    <a:ext uri="{9D8B030D-6E8A-4147-A177-3AD203B41FA5}">
                      <a16:colId xmlns:a16="http://schemas.microsoft.com/office/drawing/2014/main" val="1517877421"/>
                    </a:ext>
                  </a:extLst>
                </a:gridCol>
                <a:gridCol w="1068409">
                  <a:extLst>
                    <a:ext uri="{9D8B030D-6E8A-4147-A177-3AD203B41FA5}">
                      <a16:colId xmlns:a16="http://schemas.microsoft.com/office/drawing/2014/main" val="4184627109"/>
                    </a:ext>
                  </a:extLst>
                </a:gridCol>
                <a:gridCol w="1156308">
                  <a:extLst>
                    <a:ext uri="{9D8B030D-6E8A-4147-A177-3AD203B41FA5}">
                      <a16:colId xmlns:a16="http://schemas.microsoft.com/office/drawing/2014/main" val="4288735117"/>
                    </a:ext>
                  </a:extLst>
                </a:gridCol>
              </a:tblGrid>
              <a:tr h="499598">
                <a:tc rowSpan="3">
                  <a:txBody>
                    <a:bodyPr/>
                    <a:lstStyle/>
                    <a:p>
                      <a:pPr algn="ctr"/>
                      <a:r>
                        <a:rPr lang="en-GB" sz="1600" b="1" dirty="0">
                          <a:solidFill>
                            <a:schemeClr val="bg1"/>
                          </a:solidFill>
                        </a:rPr>
                        <a:t>Registrations</a:t>
                      </a:r>
                    </a:p>
                  </a:txBody>
                  <a:tcPr vert="vert27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schemeClr val="bg1"/>
                          </a:solidFill>
                        </a:rPr>
                        <a:t>Ethnicity</a:t>
                      </a:r>
                      <a:endParaRPr lang="en-GB" sz="1600" dirty="0"/>
                    </a:p>
                  </a:txBody>
                  <a:tcPr anchor="ctr"/>
                </a:tc>
                <a:tc>
                  <a:txBody>
                    <a:bodyPr/>
                    <a:lstStyle/>
                    <a:p>
                      <a:pPr algn="ctr"/>
                      <a:r>
                        <a:rPr lang="en-GB" sz="1600" dirty="0"/>
                        <a:t>White</a:t>
                      </a:r>
                    </a:p>
                  </a:txBody>
                  <a:tcPr anchor="ctr"/>
                </a:tc>
                <a:tc>
                  <a:txBody>
                    <a:bodyPr/>
                    <a:lstStyle/>
                    <a:p>
                      <a:pPr algn="ctr"/>
                      <a:r>
                        <a:rPr lang="en-GB" sz="1600" dirty="0">
                          <a:solidFill>
                            <a:schemeClr val="bg1"/>
                          </a:solidFill>
                        </a:rPr>
                        <a:t>Asian</a:t>
                      </a:r>
                    </a:p>
                  </a:txBody>
                  <a:tcPr anchor="ctr"/>
                </a:tc>
                <a:tc>
                  <a:txBody>
                    <a:bodyPr/>
                    <a:lstStyle/>
                    <a:p>
                      <a:pPr algn="ctr"/>
                      <a:r>
                        <a:rPr lang="en-GB" sz="1600" dirty="0">
                          <a:solidFill>
                            <a:schemeClr val="bg1"/>
                          </a:solidFill>
                        </a:rPr>
                        <a:t>Black</a:t>
                      </a:r>
                    </a:p>
                  </a:txBody>
                  <a:tcPr anchor="ctr"/>
                </a:tc>
                <a:tc>
                  <a:txBody>
                    <a:bodyPr/>
                    <a:lstStyle/>
                    <a:p>
                      <a:pPr algn="ctr"/>
                      <a:r>
                        <a:rPr lang="en-GB" sz="1600" dirty="0">
                          <a:solidFill>
                            <a:schemeClr val="bg1"/>
                          </a:solidFill>
                        </a:rPr>
                        <a:t>Mixed</a:t>
                      </a:r>
                    </a:p>
                  </a:txBody>
                  <a:tcPr anchor="ctr"/>
                </a:tc>
                <a:tc>
                  <a:txBody>
                    <a:bodyPr/>
                    <a:lstStyle/>
                    <a:p>
                      <a:pPr algn="ctr"/>
                      <a:r>
                        <a:rPr lang="en-GB" sz="1600" dirty="0">
                          <a:solidFill>
                            <a:schemeClr val="bg1"/>
                          </a:solidFill>
                        </a:rPr>
                        <a:t>Other</a:t>
                      </a:r>
                    </a:p>
                  </a:txBody>
                  <a:tcPr anchor="ctr"/>
                </a:tc>
                <a:tc>
                  <a:txBody>
                    <a:bodyPr/>
                    <a:lstStyle/>
                    <a:p>
                      <a:pPr algn="ctr"/>
                      <a:r>
                        <a:rPr lang="en-GB" sz="1600" dirty="0">
                          <a:solidFill>
                            <a:schemeClr val="bg1"/>
                          </a:solidFill>
                        </a:rPr>
                        <a:t>Unknown</a:t>
                      </a:r>
                    </a:p>
                  </a:txBody>
                  <a:tcPr anchor="ctr"/>
                </a:tc>
                <a:extLst>
                  <a:ext uri="{0D108BD9-81ED-4DB2-BD59-A6C34878D82A}">
                    <a16:rowId xmlns:a16="http://schemas.microsoft.com/office/drawing/2014/main" val="1400393670"/>
                  </a:ext>
                </a:extLst>
              </a:tr>
              <a:tr h="499598">
                <a:tc vMerge="1">
                  <a:txBody>
                    <a:bodyPr/>
                    <a:lstStyle/>
                    <a:p>
                      <a:pPr algn="ctr"/>
                      <a:endParaRPr lang="en-GB" sz="1800" b="1" dirty="0">
                        <a:solidFill>
                          <a:schemeClr val="bg1"/>
                        </a:solidFill>
                      </a:endParaRPr>
                    </a:p>
                  </a:txBody>
                  <a:tcPr vert="vert270" anchor="ctr">
                    <a:solidFill>
                      <a:srgbClr val="005EB8"/>
                    </a:solidFill>
                  </a:tcPr>
                </a:tc>
                <a:tc>
                  <a:txBody>
                    <a:bodyPr/>
                    <a:lstStyle/>
                    <a:p>
                      <a:pPr algn="ctr"/>
                      <a:r>
                        <a:rPr lang="en-GB" sz="1600" dirty="0"/>
                        <a:t>Number</a:t>
                      </a:r>
                    </a:p>
                  </a:txBody>
                  <a:tcPr anchor="ctr"/>
                </a:tc>
                <a:tc>
                  <a:txBody>
                    <a:bodyPr/>
                    <a:lstStyle/>
                    <a:p>
                      <a:pPr algn="r"/>
                      <a:r>
                        <a:rPr lang="en-GB" sz="1600" dirty="0"/>
                        <a:t>867,940</a:t>
                      </a:r>
                    </a:p>
                  </a:txBody>
                  <a:tcPr anchor="ctr"/>
                </a:tc>
                <a:tc>
                  <a:txBody>
                    <a:bodyPr/>
                    <a:lstStyle/>
                    <a:p>
                      <a:pPr algn="r"/>
                      <a:r>
                        <a:rPr lang="en-GB" sz="1600" dirty="0"/>
                        <a:t>125,800</a:t>
                      </a:r>
                    </a:p>
                  </a:txBody>
                  <a:tcPr anchor="ctr"/>
                </a:tc>
                <a:tc>
                  <a:txBody>
                    <a:bodyPr/>
                    <a:lstStyle/>
                    <a:p>
                      <a:pPr algn="r"/>
                      <a:r>
                        <a:rPr lang="en-GB" sz="1600" dirty="0"/>
                        <a:t>47,360</a:t>
                      </a:r>
                    </a:p>
                  </a:txBody>
                  <a:tcPr anchor="ctr"/>
                </a:tc>
                <a:tc>
                  <a:txBody>
                    <a:bodyPr/>
                    <a:lstStyle/>
                    <a:p>
                      <a:pPr algn="r"/>
                      <a:r>
                        <a:rPr lang="en-GB" sz="1600" dirty="0"/>
                        <a:t>12,980</a:t>
                      </a:r>
                    </a:p>
                  </a:txBody>
                  <a:tcPr anchor="ctr"/>
                </a:tc>
                <a:tc>
                  <a:txBody>
                    <a:bodyPr/>
                    <a:lstStyle/>
                    <a:p>
                      <a:pPr algn="r"/>
                      <a:r>
                        <a:rPr lang="en-GB" sz="1600" dirty="0"/>
                        <a:t>12,470</a:t>
                      </a:r>
                    </a:p>
                  </a:txBody>
                  <a:tcPr anchor="ctr"/>
                </a:tc>
                <a:tc>
                  <a:txBody>
                    <a:bodyPr/>
                    <a:lstStyle/>
                    <a:p>
                      <a:pPr algn="r"/>
                      <a:r>
                        <a:rPr lang="en-GB" sz="1600" dirty="0"/>
                        <a:t>227,945</a:t>
                      </a:r>
                    </a:p>
                  </a:txBody>
                  <a:tcPr anchor="ctr"/>
                </a:tc>
                <a:extLst>
                  <a:ext uri="{0D108BD9-81ED-4DB2-BD59-A6C34878D82A}">
                    <a16:rowId xmlns:a16="http://schemas.microsoft.com/office/drawing/2014/main" val="375595731"/>
                  </a:ext>
                </a:extLst>
              </a:tr>
              <a:tr h="499598">
                <a:tc vMerge="1">
                  <a:txBody>
                    <a:bodyPr/>
                    <a:lstStyle/>
                    <a:p>
                      <a:pPr algn="ctr"/>
                      <a:endParaRPr lang="en-GB" sz="1800" dirty="0"/>
                    </a:p>
                  </a:txBody>
                  <a:tcPr anchor="ctr"/>
                </a:tc>
                <a:tc>
                  <a:txBody>
                    <a:bodyPr/>
                    <a:lstStyle/>
                    <a:p>
                      <a:pPr algn="ctr"/>
                      <a:r>
                        <a:rPr lang="en-GB" sz="1600" dirty="0"/>
                        <a:t>Percent</a:t>
                      </a:r>
                    </a:p>
                  </a:txBody>
                  <a:tcPr anchor="ctr"/>
                </a:tc>
                <a:tc>
                  <a:txBody>
                    <a:bodyPr/>
                    <a:lstStyle/>
                    <a:p>
                      <a:pPr algn="r"/>
                      <a:r>
                        <a:rPr lang="en-GB" sz="1600" dirty="0"/>
                        <a:t>67.0</a:t>
                      </a:r>
                    </a:p>
                  </a:txBody>
                  <a:tcPr anchor="ctr"/>
                </a:tc>
                <a:tc>
                  <a:txBody>
                    <a:bodyPr/>
                    <a:lstStyle/>
                    <a:p>
                      <a:pPr algn="r"/>
                      <a:r>
                        <a:rPr lang="en-GB" sz="1600" dirty="0"/>
                        <a:t>9.7</a:t>
                      </a:r>
                    </a:p>
                  </a:txBody>
                  <a:tcPr anchor="ctr"/>
                </a:tc>
                <a:tc>
                  <a:txBody>
                    <a:bodyPr/>
                    <a:lstStyle/>
                    <a:p>
                      <a:pPr algn="r"/>
                      <a:r>
                        <a:rPr lang="en-GB" sz="1600" dirty="0"/>
                        <a:t>3.7</a:t>
                      </a:r>
                    </a:p>
                  </a:txBody>
                  <a:tcPr anchor="ctr"/>
                </a:tc>
                <a:tc>
                  <a:txBody>
                    <a:bodyPr/>
                    <a:lstStyle/>
                    <a:p>
                      <a:pPr algn="r"/>
                      <a:r>
                        <a:rPr lang="en-GB" sz="1600" dirty="0"/>
                        <a:t>1.0</a:t>
                      </a:r>
                    </a:p>
                  </a:txBody>
                  <a:tcPr anchor="ctr"/>
                </a:tc>
                <a:tc>
                  <a:txBody>
                    <a:bodyPr/>
                    <a:lstStyle/>
                    <a:p>
                      <a:pPr algn="r"/>
                      <a:r>
                        <a:rPr lang="en-GB" sz="1600" dirty="0"/>
                        <a:t>1.0</a:t>
                      </a:r>
                    </a:p>
                  </a:txBody>
                  <a:tcPr anchor="ctr"/>
                </a:tc>
                <a:tc>
                  <a:txBody>
                    <a:bodyPr/>
                    <a:lstStyle/>
                    <a:p>
                      <a:pPr algn="r"/>
                      <a:r>
                        <a:rPr lang="en-GB" sz="1600" dirty="0"/>
                        <a:t>17.6</a:t>
                      </a:r>
                    </a:p>
                  </a:txBody>
                  <a:tcPr anchor="ctr"/>
                </a:tc>
                <a:extLst>
                  <a:ext uri="{0D108BD9-81ED-4DB2-BD59-A6C34878D82A}">
                    <a16:rowId xmlns:a16="http://schemas.microsoft.com/office/drawing/2014/main" val="3290672081"/>
                  </a:ext>
                </a:extLst>
              </a:tr>
            </a:tbl>
          </a:graphicData>
        </a:graphic>
      </p:graphicFrame>
      <p:sp>
        <p:nvSpPr>
          <p:cNvPr id="9" name="TextBox 8">
            <a:extLst>
              <a:ext uri="{FF2B5EF4-FFF2-40B4-BE49-F238E27FC236}">
                <a16:creationId xmlns:a16="http://schemas.microsoft.com/office/drawing/2014/main" id="{E464989E-0AD5-42B7-AD85-BE16D030C640}"/>
              </a:ext>
            </a:extLst>
          </p:cNvPr>
          <p:cNvSpPr txBox="1"/>
          <p:nvPr/>
        </p:nvSpPr>
        <p:spPr>
          <a:xfrm flipH="1">
            <a:off x="4891236" y="4364992"/>
            <a:ext cx="4024626" cy="1877437"/>
          </a:xfrm>
          <a:prstGeom prst="rect">
            <a:avLst/>
          </a:prstGeom>
          <a:noFill/>
        </p:spPr>
        <p:txBody>
          <a:bodyPr wrap="square" rtlCol="0">
            <a:spAutoFit/>
          </a:bodyPr>
          <a:lstStyle/>
          <a:p>
            <a:r>
              <a:rPr lang="en-GB" sz="1600" dirty="0"/>
              <a:t>BAME people with non-diabetic hyperglycaemia have a lower age distribution than white people.</a:t>
            </a:r>
          </a:p>
          <a:p>
            <a:endParaRPr lang="en-GB" sz="1600" dirty="0"/>
          </a:p>
          <a:p>
            <a:endParaRPr lang="en-GB" sz="1600" dirty="0"/>
          </a:p>
          <a:p>
            <a:endParaRPr lang="en-GB" sz="2000" dirty="0"/>
          </a:p>
          <a:p>
            <a:r>
              <a:rPr lang="en-GB" sz="1600" dirty="0"/>
              <a:t>			(next slide)</a:t>
            </a:r>
          </a:p>
        </p:txBody>
      </p:sp>
      <p:graphicFrame>
        <p:nvGraphicFramePr>
          <p:cNvPr id="12" name="Chart 11">
            <a:extLst>
              <a:ext uri="{FF2B5EF4-FFF2-40B4-BE49-F238E27FC236}">
                <a16:creationId xmlns:a16="http://schemas.microsoft.com/office/drawing/2014/main" id="{F298DBCE-F869-4BD1-BB95-8722270E6337}"/>
              </a:ext>
            </a:extLst>
          </p:cNvPr>
          <p:cNvGraphicFramePr/>
          <p:nvPr>
            <p:extLst>
              <p:ext uri="{D42A27DB-BD31-4B8C-83A1-F6EECF244321}">
                <p14:modId xmlns:p14="http://schemas.microsoft.com/office/powerpoint/2010/main" val="3894128880"/>
              </p:ext>
            </p:extLst>
          </p:nvPr>
        </p:nvGraphicFramePr>
        <p:xfrm>
          <a:off x="2195736" y="4293096"/>
          <a:ext cx="2133600" cy="2077139"/>
        </p:xfrm>
        <a:graphic>
          <a:graphicData uri="http://schemas.openxmlformats.org/drawingml/2006/chart">
            <c:chart xmlns:c="http://schemas.openxmlformats.org/drawingml/2006/chart" xmlns:r="http://schemas.openxmlformats.org/officeDocument/2006/relationships" r:id="rId3"/>
          </a:graphicData>
        </a:graphic>
      </p:graphicFrame>
      <p:sp>
        <p:nvSpPr>
          <p:cNvPr id="4" name="Arrow: Bent 3">
            <a:extLst>
              <a:ext uri="{FF2B5EF4-FFF2-40B4-BE49-F238E27FC236}">
                <a16:creationId xmlns:a16="http://schemas.microsoft.com/office/drawing/2014/main" id="{43157858-D840-4394-AAF0-9F457744B264}"/>
              </a:ext>
            </a:extLst>
          </p:cNvPr>
          <p:cNvSpPr/>
          <p:nvPr/>
        </p:nvSpPr>
        <p:spPr>
          <a:xfrm rot="10800000" flipH="1">
            <a:off x="6012160" y="5230509"/>
            <a:ext cx="1576354" cy="1279403"/>
          </a:xfrm>
          <a:prstGeom prst="bentArrow">
            <a:avLst>
              <a:gd name="adj1" fmla="val 32487"/>
              <a:gd name="adj2" fmla="val 33882"/>
              <a:gd name="adj3" fmla="val 27040"/>
              <a:gd name="adj4" fmla="val 82361"/>
            </a:avLst>
          </a:prstGeom>
          <a:ln w="38100">
            <a:solidFill>
              <a:schemeClr val="accent1"/>
            </a:solidFill>
          </a:ln>
        </p:spPr>
        <p:txBody>
          <a:bodyPr wrap="square" rtlCol="0" anchor="ctr">
            <a:spAutoFit/>
          </a:bodyPr>
          <a:lstStyle/>
          <a:p>
            <a:pPr algn="l"/>
            <a:endParaRPr lang="en-GB" b="1" dirty="0">
              <a:solidFill>
                <a:schemeClr val="accent1"/>
              </a:solidFill>
            </a:endParaRPr>
          </a:p>
        </p:txBody>
      </p:sp>
      <p:graphicFrame>
        <p:nvGraphicFramePr>
          <p:cNvPr id="8" name="Table 7">
            <a:extLst>
              <a:ext uri="{FF2B5EF4-FFF2-40B4-BE49-F238E27FC236}">
                <a16:creationId xmlns:a16="http://schemas.microsoft.com/office/drawing/2014/main" id="{84340809-B4FC-4126-BB9C-E3A21C1CE5EC}"/>
              </a:ext>
            </a:extLst>
          </p:cNvPr>
          <p:cNvGraphicFramePr>
            <a:graphicFrameLocks noGrp="1"/>
          </p:cNvGraphicFramePr>
          <p:nvPr>
            <p:extLst>
              <p:ext uri="{D42A27DB-BD31-4B8C-83A1-F6EECF244321}">
                <p14:modId xmlns:p14="http://schemas.microsoft.com/office/powerpoint/2010/main" val="3056067922"/>
              </p:ext>
            </p:extLst>
          </p:nvPr>
        </p:nvGraphicFramePr>
        <p:xfrm>
          <a:off x="114718" y="6143282"/>
          <a:ext cx="4840027" cy="647700"/>
        </p:xfrm>
        <a:graphic>
          <a:graphicData uri="http://schemas.openxmlformats.org/drawingml/2006/table">
            <a:tbl>
              <a:tblPr/>
              <a:tblGrid>
                <a:gridCol w="4840027">
                  <a:extLst>
                    <a:ext uri="{9D8B030D-6E8A-4147-A177-3AD203B41FA5}">
                      <a16:colId xmlns:a16="http://schemas.microsoft.com/office/drawing/2014/main" val="2185652302"/>
                    </a:ext>
                  </a:extLst>
                </a:gridCol>
              </a:tblGrid>
              <a:tr h="161925">
                <a:tc>
                  <a:txBody>
                    <a:bodyPr/>
                    <a:lstStyle/>
                    <a:p>
                      <a:pPr algn="l" fontAlgn="b"/>
                      <a:r>
                        <a:rPr lang="en-GB" sz="1000" b="1" i="0" u="none" strike="noStrike">
                          <a:solidFill>
                            <a:srgbClr val="000000"/>
                          </a:solidFill>
                          <a:effectLst/>
                          <a:latin typeface="Arial" panose="020B0604020202020204" pitchFamily="34" charset="0"/>
                        </a:rPr>
                        <a:t>Notes:</a:t>
                      </a:r>
                    </a:p>
                  </a:txBody>
                  <a:tcPr marL="9525" marR="9525" marT="9525" marB="0" anchor="b">
                    <a:lnL>
                      <a:noFill/>
                    </a:lnL>
                    <a:lnR>
                      <a:noFill/>
                    </a:lnR>
                    <a:lnT>
                      <a:noFill/>
                    </a:lnT>
                    <a:lnB>
                      <a:noFill/>
                    </a:lnB>
                  </a:tcPr>
                </a:tc>
                <a:extLst>
                  <a:ext uri="{0D108BD9-81ED-4DB2-BD59-A6C34878D82A}">
                    <a16:rowId xmlns:a16="http://schemas.microsoft.com/office/drawing/2014/main" val="3198446097"/>
                  </a:ext>
                </a:extLst>
              </a:tr>
              <a:tr h="148129">
                <a:tc>
                  <a:txBody>
                    <a:bodyPr/>
                    <a:lstStyle/>
                    <a:p>
                      <a:pPr algn="l" fontAlgn="b"/>
                      <a:r>
                        <a:rPr lang="en-GB" sz="1000" b="0" i="0" u="none" strike="noStrike">
                          <a:solidFill>
                            <a:srgbClr val="000000"/>
                          </a:solidFill>
                          <a:effectLst/>
                          <a:latin typeface="Arial" panose="020B0604020202020204" pitchFamily="34" charset="0"/>
                        </a:rPr>
                        <a:t>1. People included: All ages</a:t>
                      </a:r>
                    </a:p>
                  </a:txBody>
                  <a:tcPr marL="9525" marR="9525" marT="9525" marB="0" anchor="b">
                    <a:lnL>
                      <a:noFill/>
                    </a:lnL>
                    <a:lnR>
                      <a:noFill/>
                    </a:lnR>
                    <a:lnT>
                      <a:noFill/>
                    </a:lnT>
                    <a:lnB>
                      <a:noFill/>
                    </a:lnB>
                  </a:tcPr>
                </a:tc>
                <a:extLst>
                  <a:ext uri="{0D108BD9-81ED-4DB2-BD59-A6C34878D82A}">
                    <a16:rowId xmlns:a16="http://schemas.microsoft.com/office/drawing/2014/main" val="1909682643"/>
                  </a:ext>
                </a:extLst>
              </a:tr>
              <a:tr h="161925">
                <a:tc>
                  <a:txBody>
                    <a:bodyPr/>
                    <a:lstStyle/>
                    <a:p>
                      <a:pPr algn="l" fontAlgn="b"/>
                      <a:r>
                        <a:rPr lang="en-GB" sz="1000" b="0" i="0" u="none" strike="noStrike" dirty="0">
                          <a:solidFill>
                            <a:srgbClr val="000000"/>
                          </a:solidFill>
                          <a:effectLst/>
                          <a:latin typeface="Arial" panose="020B0604020202020204" pitchFamily="34" charset="0"/>
                        </a:rPr>
                        <a:t>2. People included: registered at a GP practice that participated in NDA 2017-18.</a:t>
                      </a:r>
                    </a:p>
                  </a:txBody>
                  <a:tcPr marL="9525" marR="9525" marT="9525" marB="0" anchor="b">
                    <a:lnL>
                      <a:noFill/>
                    </a:lnL>
                    <a:lnR>
                      <a:noFill/>
                    </a:lnR>
                    <a:lnT>
                      <a:noFill/>
                    </a:lnT>
                    <a:lnB>
                      <a:noFill/>
                    </a:lnB>
                  </a:tcPr>
                </a:tc>
                <a:extLst>
                  <a:ext uri="{0D108BD9-81ED-4DB2-BD59-A6C34878D82A}">
                    <a16:rowId xmlns:a16="http://schemas.microsoft.com/office/drawing/2014/main" val="173156184"/>
                  </a:ext>
                </a:extLst>
              </a:tr>
              <a:tr h="161925">
                <a:tc>
                  <a:txBody>
                    <a:bodyPr/>
                    <a:lstStyle/>
                    <a:p>
                      <a:pPr algn="l" fontAlgn="b"/>
                      <a:r>
                        <a:rPr lang="en-GB" sz="1000" b="0" i="0" u="none" strike="noStrike" dirty="0">
                          <a:solidFill>
                            <a:srgbClr val="000000"/>
                          </a:solidFill>
                          <a:effectLst/>
                          <a:latin typeface="Arial" panose="020B0604020202020204" pitchFamily="34" charset="0"/>
                        </a:rPr>
                        <a:t>3. 'Unknown' includes people where the ethnicity was Unknown or Not Stated.</a:t>
                      </a:r>
                    </a:p>
                  </a:txBody>
                  <a:tcPr marL="9525" marR="9525" marT="9525" marB="0" anchor="b">
                    <a:lnL>
                      <a:noFill/>
                    </a:lnL>
                    <a:lnR>
                      <a:noFill/>
                    </a:lnR>
                    <a:lnT>
                      <a:noFill/>
                    </a:lnT>
                    <a:lnB>
                      <a:noFill/>
                    </a:lnB>
                  </a:tcPr>
                </a:tc>
                <a:extLst>
                  <a:ext uri="{0D108BD9-81ED-4DB2-BD59-A6C34878D82A}">
                    <a16:rowId xmlns:a16="http://schemas.microsoft.com/office/drawing/2014/main" val="188030452"/>
                  </a:ext>
                </a:extLst>
              </a:tr>
            </a:tbl>
          </a:graphicData>
        </a:graphic>
      </p:graphicFrame>
    </p:spTree>
    <p:extLst>
      <p:ext uri="{BB962C8B-B14F-4D97-AF65-F5344CB8AC3E}">
        <p14:creationId xmlns:p14="http://schemas.microsoft.com/office/powerpoint/2010/main" val="359135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0000" y="331200"/>
            <a:ext cx="8683696" cy="648072"/>
          </a:xfrm>
        </p:spPr>
        <p:txBody>
          <a:bodyPr>
            <a:noAutofit/>
          </a:bodyPr>
          <a:lstStyle/>
          <a:p>
            <a:r>
              <a:rPr lang="en-GB" sz="3200" dirty="0"/>
              <a:t>Non-Diabetic Hyperglycaemia: Age / Ethnicity</a:t>
            </a:r>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8</a:t>
            </a:fld>
            <a:endParaRPr lang="en-GB" dirty="0"/>
          </a:p>
        </p:txBody>
      </p:sp>
      <p:sp>
        <p:nvSpPr>
          <p:cNvPr id="6" name="Rectangle 5"/>
          <p:cNvSpPr/>
          <p:nvPr/>
        </p:nvSpPr>
        <p:spPr>
          <a:xfrm>
            <a:off x="280860" y="982469"/>
            <a:ext cx="8784960" cy="646331"/>
          </a:xfrm>
          <a:prstGeom prst="rect">
            <a:avLst/>
          </a:prstGeom>
        </p:spPr>
        <p:txBody>
          <a:bodyPr wrap="square">
            <a:spAutoFit/>
          </a:bodyPr>
          <a:lstStyle/>
          <a:p>
            <a:r>
              <a:rPr lang="en-GB" b="1" dirty="0">
                <a:solidFill>
                  <a:schemeClr val="accent1"/>
                </a:solidFill>
              </a:rPr>
              <a:t>Figure 2: Age distribution</a:t>
            </a:r>
            <a:r>
              <a:rPr lang="en-GB" b="1" baseline="30000" dirty="0">
                <a:solidFill>
                  <a:schemeClr val="accent1"/>
                </a:solidFill>
              </a:rPr>
              <a:t>2,3</a:t>
            </a:r>
            <a:r>
              <a:rPr lang="en-GB" b="1" dirty="0">
                <a:solidFill>
                  <a:schemeClr val="accent1"/>
                </a:solidFill>
              </a:rPr>
              <a:t>, by ethnicity, nondiabetic hyperglycaemia (NDH), Type 2 diabetes</a:t>
            </a:r>
            <a:r>
              <a:rPr lang="en-GB" b="1" baseline="30000" dirty="0">
                <a:solidFill>
                  <a:schemeClr val="accent1"/>
                </a:solidFill>
              </a:rPr>
              <a:t>4</a:t>
            </a:r>
            <a:r>
              <a:rPr lang="en-GB" b="1" dirty="0">
                <a:solidFill>
                  <a:schemeClr val="accent1"/>
                </a:solidFill>
              </a:rPr>
              <a:t> (T2DM) and England</a:t>
            </a:r>
            <a:r>
              <a:rPr lang="en-GB" b="1" baseline="30000" dirty="0">
                <a:solidFill>
                  <a:schemeClr val="accent1"/>
                </a:solidFill>
              </a:rPr>
              <a:t>1</a:t>
            </a:r>
            <a:r>
              <a:rPr lang="en-GB" b="1" dirty="0">
                <a:solidFill>
                  <a:schemeClr val="accent1"/>
                </a:solidFill>
              </a:rPr>
              <a:t> (Census 2011), 2017-18, England</a:t>
            </a:r>
          </a:p>
        </p:txBody>
      </p:sp>
      <p:pic>
        <p:nvPicPr>
          <p:cNvPr id="7" name="Picture 6">
            <a:extLst>
              <a:ext uri="{FF2B5EF4-FFF2-40B4-BE49-F238E27FC236}">
                <a16:creationId xmlns:a16="http://schemas.microsoft.com/office/drawing/2014/main" id="{231FF1E2-4C77-4284-BEDD-B8C5FD1BBD37}"/>
              </a:ext>
            </a:extLst>
          </p:cNvPr>
          <p:cNvPicPr>
            <a:picLocks noChangeAspect="1"/>
          </p:cNvPicPr>
          <p:nvPr/>
        </p:nvPicPr>
        <p:blipFill>
          <a:blip r:embed="rId3"/>
          <a:stretch>
            <a:fillRect/>
          </a:stretch>
        </p:blipFill>
        <p:spPr>
          <a:xfrm>
            <a:off x="349208" y="1629377"/>
            <a:ext cx="4349288" cy="2376000"/>
          </a:xfrm>
          <a:prstGeom prst="rect">
            <a:avLst/>
          </a:prstGeom>
        </p:spPr>
      </p:pic>
      <p:pic>
        <p:nvPicPr>
          <p:cNvPr id="9" name="Picture 8">
            <a:extLst>
              <a:ext uri="{FF2B5EF4-FFF2-40B4-BE49-F238E27FC236}">
                <a16:creationId xmlns:a16="http://schemas.microsoft.com/office/drawing/2014/main" id="{D4ED80CC-092D-4CD1-B184-F8A6C02C6F69}"/>
              </a:ext>
            </a:extLst>
          </p:cNvPr>
          <p:cNvPicPr>
            <a:picLocks noChangeAspect="1"/>
          </p:cNvPicPr>
          <p:nvPr/>
        </p:nvPicPr>
        <p:blipFill>
          <a:blip r:embed="rId4"/>
          <a:stretch>
            <a:fillRect/>
          </a:stretch>
        </p:blipFill>
        <p:spPr>
          <a:xfrm>
            <a:off x="349208" y="4001201"/>
            <a:ext cx="4338000" cy="2360295"/>
          </a:xfrm>
          <a:prstGeom prst="rect">
            <a:avLst/>
          </a:prstGeom>
        </p:spPr>
      </p:pic>
      <p:pic>
        <p:nvPicPr>
          <p:cNvPr id="10" name="Picture 9">
            <a:extLst>
              <a:ext uri="{FF2B5EF4-FFF2-40B4-BE49-F238E27FC236}">
                <a16:creationId xmlns:a16="http://schemas.microsoft.com/office/drawing/2014/main" id="{47672D06-0357-4CE3-9127-61E591A63740}"/>
              </a:ext>
            </a:extLst>
          </p:cNvPr>
          <p:cNvPicPr>
            <a:picLocks noChangeAspect="1"/>
          </p:cNvPicPr>
          <p:nvPr/>
        </p:nvPicPr>
        <p:blipFill>
          <a:blip r:embed="rId5"/>
          <a:stretch>
            <a:fillRect/>
          </a:stretch>
        </p:blipFill>
        <p:spPr>
          <a:xfrm>
            <a:off x="4687208" y="1628800"/>
            <a:ext cx="4349288" cy="2376000"/>
          </a:xfrm>
          <a:prstGeom prst="rect">
            <a:avLst/>
          </a:prstGeom>
        </p:spPr>
      </p:pic>
      <p:pic>
        <p:nvPicPr>
          <p:cNvPr id="13" name="Picture 12">
            <a:extLst>
              <a:ext uri="{FF2B5EF4-FFF2-40B4-BE49-F238E27FC236}">
                <a16:creationId xmlns:a16="http://schemas.microsoft.com/office/drawing/2014/main" id="{80482312-5F9E-42C1-AB33-1BDA35172F34}"/>
              </a:ext>
            </a:extLst>
          </p:cNvPr>
          <p:cNvPicPr>
            <a:picLocks noChangeAspect="1"/>
          </p:cNvPicPr>
          <p:nvPr/>
        </p:nvPicPr>
        <p:blipFill>
          <a:blip r:embed="rId6"/>
          <a:stretch>
            <a:fillRect/>
          </a:stretch>
        </p:blipFill>
        <p:spPr>
          <a:xfrm>
            <a:off x="4675574" y="4001201"/>
            <a:ext cx="4360921" cy="2360295"/>
          </a:xfrm>
          <a:prstGeom prst="rect">
            <a:avLst/>
          </a:prstGeom>
        </p:spPr>
      </p:pic>
      <p:sp>
        <p:nvSpPr>
          <p:cNvPr id="12" name="TextBox 11">
            <a:extLst>
              <a:ext uri="{FF2B5EF4-FFF2-40B4-BE49-F238E27FC236}">
                <a16:creationId xmlns:a16="http://schemas.microsoft.com/office/drawing/2014/main" id="{9239648E-AABE-43A0-A0E6-6879A93B233E}"/>
              </a:ext>
            </a:extLst>
          </p:cNvPr>
          <p:cNvSpPr txBox="1"/>
          <p:nvPr/>
        </p:nvSpPr>
        <p:spPr>
          <a:xfrm>
            <a:off x="-34209" y="6373252"/>
            <a:ext cx="9212418" cy="484748"/>
          </a:xfrm>
          <a:prstGeom prst="rect">
            <a:avLst/>
          </a:prstGeom>
          <a:noFill/>
        </p:spPr>
        <p:txBody>
          <a:bodyPr wrap="square" rtlCol="0">
            <a:spAutoFit/>
          </a:bodyPr>
          <a:lstStyle/>
          <a:p>
            <a:pPr fontAlgn="b"/>
            <a:r>
              <a:rPr lang="en-GB" sz="850" b="1" dirty="0"/>
              <a:t>Notes: </a:t>
            </a:r>
            <a:r>
              <a:rPr lang="en-GB" sz="850" dirty="0"/>
              <a:t>1. Data taken from ONS, </a:t>
            </a:r>
            <a:r>
              <a:rPr lang="en-GB" sz="850" dirty="0">
                <a:hlinkClick r:id="rId7"/>
              </a:rPr>
              <a:t>2011 Census</a:t>
            </a:r>
            <a:r>
              <a:rPr lang="en-GB" sz="850" dirty="0"/>
              <a:t>.     2. People included: those who are aged 15 years and over (with a known, valid date of birth).      </a:t>
            </a:r>
          </a:p>
          <a:p>
            <a:pPr fontAlgn="b"/>
            <a:r>
              <a:rPr lang="en-GB" sz="850" dirty="0"/>
              <a:t>3. People included (NDH, T2DM): registered at a GP practice that participated in NDA 2017-18.     </a:t>
            </a:r>
          </a:p>
          <a:p>
            <a:pPr fontAlgn="b"/>
            <a:r>
              <a:rPr lang="en-GB" sz="850" dirty="0"/>
              <a:t>4. People included (T2DM): those in NDA 2017-18 who did not have type 1 diabetes.</a:t>
            </a:r>
          </a:p>
        </p:txBody>
      </p:sp>
    </p:spTree>
    <p:extLst>
      <p:ext uri="{BB962C8B-B14F-4D97-AF65-F5344CB8AC3E}">
        <p14:creationId xmlns:p14="http://schemas.microsoft.com/office/powerpoint/2010/main" val="34910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40000" y="331200"/>
            <a:ext cx="8640960" cy="648072"/>
          </a:xfrm>
        </p:spPr>
        <p:txBody>
          <a:bodyPr>
            <a:normAutofit/>
          </a:bodyPr>
          <a:lstStyle/>
          <a:p>
            <a:r>
              <a:rPr lang="en-GB" sz="3300" dirty="0"/>
              <a:t>Non-Diabetic Hyperglycaemia: Deprivation</a:t>
            </a:r>
            <a:endParaRPr lang="en-GB" sz="2200" dirty="0"/>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9</a:t>
            </a:fld>
            <a:endParaRPr lang="en-GB" dirty="0"/>
          </a:p>
        </p:txBody>
      </p:sp>
      <p:sp>
        <p:nvSpPr>
          <p:cNvPr id="6" name="Rectangle 5"/>
          <p:cNvSpPr/>
          <p:nvPr/>
        </p:nvSpPr>
        <p:spPr>
          <a:xfrm>
            <a:off x="539999" y="1281591"/>
            <a:ext cx="8496495" cy="646331"/>
          </a:xfrm>
          <a:prstGeom prst="rect">
            <a:avLst/>
          </a:prstGeom>
        </p:spPr>
        <p:txBody>
          <a:bodyPr wrap="square">
            <a:spAutoFit/>
          </a:bodyPr>
          <a:lstStyle/>
          <a:p>
            <a:r>
              <a:rPr lang="en-GB" b="1" dirty="0">
                <a:solidFill>
                  <a:schemeClr val="accent1"/>
                </a:solidFill>
              </a:rPr>
              <a:t>Figure 3: Deprivation breakdown</a:t>
            </a:r>
            <a:r>
              <a:rPr lang="en-GB" b="1" baseline="30000" dirty="0">
                <a:solidFill>
                  <a:schemeClr val="accent1"/>
                </a:solidFill>
              </a:rPr>
              <a:t>1,2</a:t>
            </a:r>
            <a:r>
              <a:rPr lang="en-GB" b="1" dirty="0">
                <a:solidFill>
                  <a:schemeClr val="accent1"/>
                </a:solidFill>
              </a:rPr>
              <a:t> (quintiles), non-diabetic hyperglycaemia (NDH), Type 2 diabetes</a:t>
            </a:r>
            <a:r>
              <a:rPr lang="en-GB" b="1" baseline="30000" dirty="0">
                <a:solidFill>
                  <a:schemeClr val="accent1"/>
                </a:solidFill>
              </a:rPr>
              <a:t>3</a:t>
            </a:r>
            <a:r>
              <a:rPr lang="en-GB" b="1" dirty="0">
                <a:solidFill>
                  <a:schemeClr val="accent1"/>
                </a:solidFill>
              </a:rPr>
              <a:t> (T2DM) and England, 2017-18, England</a:t>
            </a:r>
          </a:p>
        </p:txBody>
      </p:sp>
      <p:sp>
        <p:nvSpPr>
          <p:cNvPr id="13" name="TextBox 12">
            <a:extLst>
              <a:ext uri="{FF2B5EF4-FFF2-40B4-BE49-F238E27FC236}">
                <a16:creationId xmlns:a16="http://schemas.microsoft.com/office/drawing/2014/main" id="{00EFD978-A3E6-4EBA-8812-9CA60070F394}"/>
              </a:ext>
            </a:extLst>
          </p:cNvPr>
          <p:cNvSpPr txBox="1"/>
          <p:nvPr/>
        </p:nvSpPr>
        <p:spPr>
          <a:xfrm>
            <a:off x="1130329" y="5627586"/>
            <a:ext cx="3081631" cy="954107"/>
          </a:xfrm>
          <a:prstGeom prst="rect">
            <a:avLst/>
          </a:prstGeom>
          <a:noFill/>
        </p:spPr>
        <p:txBody>
          <a:bodyPr wrap="square" rtlCol="0">
            <a:spAutoFit/>
          </a:bodyPr>
          <a:lstStyle/>
          <a:p>
            <a:r>
              <a:rPr lang="en-GB" sz="1400" dirty="0"/>
              <a:t>People with type 2 diabetes are more often found in more deprived areas: there is a clear decrease from the most to least deprived quintiles.</a:t>
            </a:r>
          </a:p>
        </p:txBody>
      </p:sp>
      <p:pic>
        <p:nvPicPr>
          <p:cNvPr id="5" name="Picture 4">
            <a:extLst>
              <a:ext uri="{FF2B5EF4-FFF2-40B4-BE49-F238E27FC236}">
                <a16:creationId xmlns:a16="http://schemas.microsoft.com/office/drawing/2014/main" id="{FBD430DF-03CD-4525-9FC7-79D23E9213F2}"/>
              </a:ext>
            </a:extLst>
          </p:cNvPr>
          <p:cNvPicPr>
            <a:picLocks noChangeAspect="1"/>
          </p:cNvPicPr>
          <p:nvPr/>
        </p:nvPicPr>
        <p:blipFill>
          <a:blip r:embed="rId3"/>
          <a:stretch>
            <a:fillRect/>
          </a:stretch>
        </p:blipFill>
        <p:spPr>
          <a:xfrm>
            <a:off x="611560" y="1956941"/>
            <a:ext cx="7090370" cy="3489040"/>
          </a:xfrm>
          <a:prstGeom prst="rect">
            <a:avLst/>
          </a:prstGeom>
        </p:spPr>
      </p:pic>
      <p:sp>
        <p:nvSpPr>
          <p:cNvPr id="8" name="TextBox 7">
            <a:extLst>
              <a:ext uri="{FF2B5EF4-FFF2-40B4-BE49-F238E27FC236}">
                <a16:creationId xmlns:a16="http://schemas.microsoft.com/office/drawing/2014/main" id="{F1732BBE-36E9-4D58-BE91-C63A255FDBFA}"/>
              </a:ext>
            </a:extLst>
          </p:cNvPr>
          <p:cNvSpPr txBox="1"/>
          <p:nvPr/>
        </p:nvSpPr>
        <p:spPr>
          <a:xfrm>
            <a:off x="5161890" y="5568284"/>
            <a:ext cx="3730590" cy="954107"/>
          </a:xfrm>
          <a:prstGeom prst="rect">
            <a:avLst/>
          </a:prstGeom>
          <a:noFill/>
        </p:spPr>
        <p:txBody>
          <a:bodyPr wrap="square" rtlCol="0">
            <a:spAutoFit/>
          </a:bodyPr>
          <a:lstStyle/>
          <a:p>
            <a:r>
              <a:rPr lang="en-GB" sz="1400" dirty="0"/>
              <a:t>People with non-diabetic hyperglycaemia are found in similar numbers across deprivation quintiles: there is only a slight gradient change from most to least deprived.</a:t>
            </a:r>
          </a:p>
        </p:txBody>
      </p:sp>
      <p:pic>
        <p:nvPicPr>
          <p:cNvPr id="7" name="Picture 6">
            <a:extLst>
              <a:ext uri="{FF2B5EF4-FFF2-40B4-BE49-F238E27FC236}">
                <a16:creationId xmlns:a16="http://schemas.microsoft.com/office/drawing/2014/main" id="{E843434D-13A6-46AA-B559-AD8C528B5493}"/>
              </a:ext>
            </a:extLst>
          </p:cNvPr>
          <p:cNvPicPr>
            <a:picLocks noChangeAspect="1"/>
          </p:cNvPicPr>
          <p:nvPr/>
        </p:nvPicPr>
        <p:blipFill>
          <a:blip r:embed="rId4"/>
          <a:stretch>
            <a:fillRect/>
          </a:stretch>
        </p:blipFill>
        <p:spPr>
          <a:xfrm rot="10393366">
            <a:off x="4111782" y="5486350"/>
            <a:ext cx="1036800" cy="1036800"/>
          </a:xfrm>
          <a:prstGeom prst="rect">
            <a:avLst/>
          </a:prstGeom>
        </p:spPr>
      </p:pic>
      <p:pic>
        <p:nvPicPr>
          <p:cNvPr id="9" name="Picture 8">
            <a:extLst>
              <a:ext uri="{FF2B5EF4-FFF2-40B4-BE49-F238E27FC236}">
                <a16:creationId xmlns:a16="http://schemas.microsoft.com/office/drawing/2014/main" id="{FB48869A-F882-4102-B4EF-348382D4A077}"/>
              </a:ext>
            </a:extLst>
          </p:cNvPr>
          <p:cNvPicPr>
            <a:picLocks noChangeAspect="1"/>
          </p:cNvPicPr>
          <p:nvPr/>
        </p:nvPicPr>
        <p:blipFill>
          <a:blip r:embed="rId5"/>
          <a:stretch>
            <a:fillRect/>
          </a:stretch>
        </p:blipFill>
        <p:spPr>
          <a:xfrm>
            <a:off x="7347" y="5475000"/>
            <a:ext cx="1151908" cy="1151908"/>
          </a:xfrm>
          <a:prstGeom prst="rect">
            <a:avLst/>
          </a:prstGeom>
        </p:spPr>
      </p:pic>
      <p:sp>
        <p:nvSpPr>
          <p:cNvPr id="10" name="TextBox 9">
            <a:extLst>
              <a:ext uri="{FF2B5EF4-FFF2-40B4-BE49-F238E27FC236}">
                <a16:creationId xmlns:a16="http://schemas.microsoft.com/office/drawing/2014/main" id="{6976CD5A-490D-4832-A6C7-1C38EF88612B}"/>
              </a:ext>
            </a:extLst>
          </p:cNvPr>
          <p:cNvSpPr txBox="1"/>
          <p:nvPr/>
        </p:nvSpPr>
        <p:spPr>
          <a:xfrm>
            <a:off x="7740352" y="1931454"/>
            <a:ext cx="1296143" cy="1792798"/>
          </a:xfrm>
          <a:prstGeom prst="rect">
            <a:avLst/>
          </a:prstGeom>
          <a:noFill/>
        </p:spPr>
        <p:txBody>
          <a:bodyPr wrap="square" rtlCol="0">
            <a:spAutoFit/>
          </a:bodyPr>
          <a:lstStyle/>
          <a:p>
            <a:pPr fontAlgn="b"/>
            <a:r>
              <a:rPr lang="en-GB" sz="850" b="1" dirty="0"/>
              <a:t>Notes: </a:t>
            </a:r>
          </a:p>
          <a:p>
            <a:pPr fontAlgn="b"/>
            <a:r>
              <a:rPr lang="en-GB" sz="850" dirty="0"/>
              <a:t>1. People included:   All ages</a:t>
            </a:r>
          </a:p>
          <a:p>
            <a:pPr fontAlgn="b"/>
            <a:r>
              <a:rPr lang="en-GB" sz="850" dirty="0"/>
              <a:t>2. People included (NDH, T2DM): registered at a GP practice that participated in NDA 2017-18.     </a:t>
            </a:r>
          </a:p>
          <a:p>
            <a:pPr fontAlgn="b"/>
            <a:r>
              <a:rPr lang="en-GB" sz="850" dirty="0"/>
              <a:t>3. People included (T2DM): those in NDA 2017-18 who did not have type 1 diabetes.</a:t>
            </a:r>
          </a:p>
        </p:txBody>
      </p:sp>
    </p:spTree>
    <p:extLst>
      <p:ext uri="{BB962C8B-B14F-4D97-AF65-F5344CB8AC3E}">
        <p14:creationId xmlns:p14="http://schemas.microsoft.com/office/powerpoint/2010/main" val="3029996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2800" y="331200"/>
            <a:ext cx="8640960" cy="648072"/>
          </a:xfrm>
        </p:spPr>
        <p:txBody>
          <a:bodyPr>
            <a:normAutofit/>
          </a:bodyPr>
          <a:lstStyle/>
          <a:p>
            <a:r>
              <a:rPr lang="en-GB" sz="3300" dirty="0"/>
              <a:t>Non-Diabetic Hyperglycaemia: BMI</a:t>
            </a:r>
            <a:endParaRPr lang="en-GB" sz="2200" dirty="0"/>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10</a:t>
            </a:fld>
            <a:endParaRPr lang="en-GB" dirty="0"/>
          </a:p>
        </p:txBody>
      </p:sp>
      <p:sp>
        <p:nvSpPr>
          <p:cNvPr id="6" name="Rectangle 5"/>
          <p:cNvSpPr/>
          <p:nvPr/>
        </p:nvSpPr>
        <p:spPr>
          <a:xfrm>
            <a:off x="254145" y="1271083"/>
            <a:ext cx="8537055" cy="646331"/>
          </a:xfrm>
          <a:prstGeom prst="rect">
            <a:avLst/>
          </a:prstGeom>
        </p:spPr>
        <p:txBody>
          <a:bodyPr wrap="square">
            <a:spAutoFit/>
          </a:bodyPr>
          <a:lstStyle/>
          <a:p>
            <a:r>
              <a:rPr lang="en-GB" b="1" dirty="0">
                <a:solidFill>
                  <a:schemeClr val="accent1"/>
                </a:solidFill>
              </a:rPr>
              <a:t>Figure 4: Body Mass Index</a:t>
            </a:r>
            <a:r>
              <a:rPr lang="en-GB" b="1" baseline="30000" dirty="0">
                <a:solidFill>
                  <a:schemeClr val="accent1"/>
                </a:solidFill>
              </a:rPr>
              <a:t>1,2</a:t>
            </a:r>
            <a:r>
              <a:rPr lang="en-GB" b="1" dirty="0">
                <a:solidFill>
                  <a:schemeClr val="accent1"/>
                </a:solidFill>
              </a:rPr>
              <a:t> (BMI), non-diabetic hyperglycaemia (NDH), Type 2 diabetes</a:t>
            </a:r>
            <a:r>
              <a:rPr lang="en-GB" b="1" baseline="30000" dirty="0">
                <a:solidFill>
                  <a:schemeClr val="accent1"/>
                </a:solidFill>
              </a:rPr>
              <a:t>3</a:t>
            </a:r>
            <a:r>
              <a:rPr lang="en-GB" b="1" dirty="0">
                <a:solidFill>
                  <a:schemeClr val="accent1"/>
                </a:solidFill>
              </a:rPr>
              <a:t> (T2DM), 2017-18, England</a:t>
            </a:r>
          </a:p>
        </p:txBody>
      </p:sp>
      <p:sp>
        <p:nvSpPr>
          <p:cNvPr id="13" name="TextBox 12">
            <a:extLst>
              <a:ext uri="{FF2B5EF4-FFF2-40B4-BE49-F238E27FC236}">
                <a16:creationId xmlns:a16="http://schemas.microsoft.com/office/drawing/2014/main" id="{00EFD978-A3E6-4EBA-8812-9CA60070F394}"/>
              </a:ext>
            </a:extLst>
          </p:cNvPr>
          <p:cNvSpPr txBox="1"/>
          <p:nvPr/>
        </p:nvSpPr>
        <p:spPr>
          <a:xfrm>
            <a:off x="274716" y="5517232"/>
            <a:ext cx="8869284" cy="784830"/>
          </a:xfrm>
          <a:prstGeom prst="rect">
            <a:avLst/>
          </a:prstGeom>
          <a:noFill/>
        </p:spPr>
        <p:txBody>
          <a:bodyPr wrap="square" rtlCol="0">
            <a:spAutoFit/>
          </a:bodyPr>
          <a:lstStyle/>
          <a:p>
            <a:r>
              <a:rPr lang="en-GB" sz="1500" dirty="0"/>
              <a:t>The distribution of normal, overweight and obese BMI is similar amongst people with non-diabetic hyperglycaemia and people with Type 2 diabetes. The proportion of people in the ‘healthy’ weight category (BMI &lt; 25) is slightly higher in the NDH population than in the Type 2 diabetes population.</a:t>
            </a:r>
          </a:p>
        </p:txBody>
      </p:sp>
      <p:pic>
        <p:nvPicPr>
          <p:cNvPr id="7" name="Picture 6">
            <a:extLst>
              <a:ext uri="{FF2B5EF4-FFF2-40B4-BE49-F238E27FC236}">
                <a16:creationId xmlns:a16="http://schemas.microsoft.com/office/drawing/2014/main" id="{F314495B-465F-4DD6-9A41-FCBBFA8DF20F}"/>
              </a:ext>
            </a:extLst>
          </p:cNvPr>
          <p:cNvPicPr>
            <a:picLocks noChangeAspect="1"/>
          </p:cNvPicPr>
          <p:nvPr/>
        </p:nvPicPr>
        <p:blipFill>
          <a:blip r:embed="rId3"/>
          <a:stretch>
            <a:fillRect/>
          </a:stretch>
        </p:blipFill>
        <p:spPr>
          <a:xfrm>
            <a:off x="352800" y="1916832"/>
            <a:ext cx="8251648" cy="3579224"/>
          </a:xfrm>
          <a:prstGeom prst="rect">
            <a:avLst/>
          </a:prstGeom>
        </p:spPr>
      </p:pic>
      <p:sp>
        <p:nvSpPr>
          <p:cNvPr id="10" name="TextBox 9">
            <a:extLst>
              <a:ext uri="{FF2B5EF4-FFF2-40B4-BE49-F238E27FC236}">
                <a16:creationId xmlns:a16="http://schemas.microsoft.com/office/drawing/2014/main" id="{4BC85F88-F938-421B-8F4E-D266A6F6A2CD}"/>
              </a:ext>
            </a:extLst>
          </p:cNvPr>
          <p:cNvSpPr txBox="1"/>
          <p:nvPr/>
        </p:nvSpPr>
        <p:spPr>
          <a:xfrm>
            <a:off x="6131846" y="3709750"/>
            <a:ext cx="2304256" cy="707886"/>
          </a:xfrm>
          <a:prstGeom prst="rect">
            <a:avLst/>
          </a:prstGeom>
          <a:noFill/>
          <a:ln>
            <a:noFill/>
          </a:ln>
        </p:spPr>
        <p:txBody>
          <a:bodyPr wrap="square" rtlCol="0">
            <a:spAutoFit/>
          </a:bodyPr>
          <a:lstStyle/>
          <a:p>
            <a:r>
              <a:rPr lang="en-GB" sz="1000" dirty="0"/>
              <a:t>BMI less than 18.5 – underweight</a:t>
            </a:r>
          </a:p>
          <a:p>
            <a:r>
              <a:rPr lang="en-GB" sz="1000" dirty="0"/>
              <a:t>BMI 18.5 to less than 25 – normal</a:t>
            </a:r>
          </a:p>
          <a:p>
            <a:r>
              <a:rPr lang="en-GB" sz="1000" dirty="0"/>
              <a:t>BMI 25 to less than 30 – overweight</a:t>
            </a:r>
          </a:p>
          <a:p>
            <a:r>
              <a:rPr lang="en-GB" sz="1000" dirty="0"/>
              <a:t>BMI 30 or more – obese</a:t>
            </a:r>
          </a:p>
        </p:txBody>
      </p:sp>
      <p:sp>
        <p:nvSpPr>
          <p:cNvPr id="8" name="TextBox 7">
            <a:extLst>
              <a:ext uri="{FF2B5EF4-FFF2-40B4-BE49-F238E27FC236}">
                <a16:creationId xmlns:a16="http://schemas.microsoft.com/office/drawing/2014/main" id="{18005215-74EC-462F-AD83-3C0B1B45BB3E}"/>
              </a:ext>
            </a:extLst>
          </p:cNvPr>
          <p:cNvSpPr txBox="1"/>
          <p:nvPr/>
        </p:nvSpPr>
        <p:spPr>
          <a:xfrm>
            <a:off x="0" y="6241049"/>
            <a:ext cx="6984776" cy="615553"/>
          </a:xfrm>
          <a:prstGeom prst="rect">
            <a:avLst/>
          </a:prstGeom>
          <a:solidFill>
            <a:srgbClr val="F9F9F9"/>
          </a:solidFill>
        </p:spPr>
        <p:txBody>
          <a:bodyPr wrap="square" rtlCol="0">
            <a:spAutoFit/>
          </a:bodyPr>
          <a:lstStyle/>
          <a:p>
            <a:pPr fontAlgn="b"/>
            <a:r>
              <a:rPr lang="en-GB" sz="850" b="1" dirty="0"/>
              <a:t>Notes: </a:t>
            </a:r>
          </a:p>
          <a:p>
            <a:pPr fontAlgn="b"/>
            <a:r>
              <a:rPr lang="en-GB" sz="850" dirty="0"/>
              <a:t>1. People included: All ages</a:t>
            </a:r>
          </a:p>
          <a:p>
            <a:pPr fontAlgn="b"/>
            <a:r>
              <a:rPr lang="en-GB" sz="850" dirty="0"/>
              <a:t>2. People included (NDH, T2DM): registered at a GP practice that participated in NDA 2017-18.     </a:t>
            </a:r>
          </a:p>
          <a:p>
            <a:pPr fontAlgn="b"/>
            <a:r>
              <a:rPr lang="en-GB" sz="850" dirty="0"/>
              <a:t>3. People included (T2DM): those in NDA 2017-18 who did not have type 1 diabetes.</a:t>
            </a:r>
          </a:p>
        </p:txBody>
      </p:sp>
    </p:spTree>
    <p:extLst>
      <p:ext uri="{BB962C8B-B14F-4D97-AF65-F5344CB8AC3E}">
        <p14:creationId xmlns:p14="http://schemas.microsoft.com/office/powerpoint/2010/main" val="4163933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7D9A6DC-2326-4412-BB5A-59599892288F}"/>
              </a:ext>
            </a:extLst>
          </p:cNvPr>
          <p:cNvPicPr>
            <a:picLocks noChangeAspect="1"/>
          </p:cNvPicPr>
          <p:nvPr/>
        </p:nvPicPr>
        <p:blipFill>
          <a:blip r:embed="rId3"/>
          <a:stretch>
            <a:fillRect/>
          </a:stretch>
        </p:blipFill>
        <p:spPr>
          <a:xfrm>
            <a:off x="439195" y="1865264"/>
            <a:ext cx="8265610" cy="4516064"/>
          </a:xfrm>
          <a:prstGeom prst="rect">
            <a:avLst/>
          </a:prstGeom>
        </p:spPr>
      </p:pic>
      <p:sp>
        <p:nvSpPr>
          <p:cNvPr id="3" name="Title 2"/>
          <p:cNvSpPr>
            <a:spLocks noGrp="1"/>
          </p:cNvSpPr>
          <p:nvPr>
            <p:ph type="title"/>
          </p:nvPr>
        </p:nvSpPr>
        <p:spPr>
          <a:xfrm>
            <a:off x="360000" y="331200"/>
            <a:ext cx="8748504" cy="809667"/>
          </a:xfrm>
        </p:spPr>
        <p:txBody>
          <a:bodyPr>
            <a:noAutofit/>
          </a:bodyPr>
          <a:lstStyle/>
          <a:p>
            <a:r>
              <a:rPr lang="en-GB" sz="3100" dirty="0"/>
              <a:t>Non-Diabetic Hyperglycaemia: BMI / Ethnicity</a:t>
            </a:r>
          </a:p>
        </p:txBody>
      </p:sp>
      <p:sp>
        <p:nvSpPr>
          <p:cNvPr id="2" name="Slide Number Placeholder 1"/>
          <p:cNvSpPr>
            <a:spLocks noGrp="1"/>
          </p:cNvSpPr>
          <p:nvPr>
            <p:ph type="sldNum" sz="quarter" idx="12"/>
          </p:nvPr>
        </p:nvSpPr>
        <p:spPr>
          <a:xfrm>
            <a:off x="6300192" y="6300000"/>
            <a:ext cx="2133600" cy="365125"/>
          </a:xfrm>
        </p:spPr>
        <p:txBody>
          <a:bodyPr/>
          <a:lstStyle/>
          <a:p>
            <a:fld id="{4F2E129E-16B7-480B-972E-C025DBFD1D53}" type="slidenum">
              <a:rPr lang="en-GB" smtClean="0"/>
              <a:pPr/>
              <a:t>11</a:t>
            </a:fld>
            <a:endParaRPr lang="en-GB" dirty="0"/>
          </a:p>
        </p:txBody>
      </p:sp>
      <p:sp>
        <p:nvSpPr>
          <p:cNvPr id="6" name="Rectangle 5"/>
          <p:cNvSpPr/>
          <p:nvPr/>
        </p:nvSpPr>
        <p:spPr>
          <a:xfrm>
            <a:off x="439195" y="980728"/>
            <a:ext cx="8661655" cy="923330"/>
          </a:xfrm>
          <a:prstGeom prst="rect">
            <a:avLst/>
          </a:prstGeom>
        </p:spPr>
        <p:txBody>
          <a:bodyPr wrap="square">
            <a:spAutoFit/>
          </a:bodyPr>
          <a:lstStyle/>
          <a:p>
            <a:r>
              <a:rPr lang="en-GB" b="1" dirty="0">
                <a:solidFill>
                  <a:schemeClr val="accent1"/>
                </a:solidFill>
              </a:rPr>
              <a:t>Figure 5: Body Mass Index</a:t>
            </a:r>
            <a:r>
              <a:rPr lang="en-GB" b="1" baseline="30000" dirty="0">
                <a:solidFill>
                  <a:schemeClr val="accent1"/>
                </a:solidFill>
              </a:rPr>
              <a:t>2,3</a:t>
            </a:r>
            <a:r>
              <a:rPr lang="en-GB" b="1" dirty="0">
                <a:solidFill>
                  <a:schemeClr val="accent1"/>
                </a:solidFill>
              </a:rPr>
              <a:t> (BMI), by ethnicity, non-diabetic hyperglycaemia (NDH), Type 2 diabetes</a:t>
            </a:r>
            <a:r>
              <a:rPr lang="en-GB" b="1" baseline="30000" dirty="0">
                <a:solidFill>
                  <a:schemeClr val="accent1"/>
                </a:solidFill>
              </a:rPr>
              <a:t>4</a:t>
            </a:r>
            <a:r>
              <a:rPr lang="en-GB" b="1" dirty="0">
                <a:solidFill>
                  <a:schemeClr val="accent1"/>
                </a:solidFill>
              </a:rPr>
              <a:t> (T2DM) and England</a:t>
            </a:r>
            <a:r>
              <a:rPr lang="en-GB" b="1" baseline="30000" dirty="0">
                <a:solidFill>
                  <a:schemeClr val="accent1"/>
                </a:solidFill>
              </a:rPr>
              <a:t>1,5</a:t>
            </a:r>
            <a:r>
              <a:rPr lang="en-GB" b="1" dirty="0">
                <a:solidFill>
                  <a:schemeClr val="accent1"/>
                </a:solidFill>
              </a:rPr>
              <a:t> (Health Survey for England 2015-17), 2017-18, England</a:t>
            </a:r>
          </a:p>
        </p:txBody>
      </p:sp>
      <p:sp>
        <p:nvSpPr>
          <p:cNvPr id="5" name="TextBox 4">
            <a:extLst>
              <a:ext uri="{FF2B5EF4-FFF2-40B4-BE49-F238E27FC236}">
                <a16:creationId xmlns:a16="http://schemas.microsoft.com/office/drawing/2014/main" id="{BF1C7838-7EC0-4500-8F82-5FAD2869E2AF}"/>
              </a:ext>
            </a:extLst>
          </p:cNvPr>
          <p:cNvSpPr txBox="1"/>
          <p:nvPr/>
        </p:nvSpPr>
        <p:spPr>
          <a:xfrm>
            <a:off x="778487" y="1945042"/>
            <a:ext cx="1417250" cy="923330"/>
          </a:xfrm>
          <a:prstGeom prst="rect">
            <a:avLst/>
          </a:prstGeom>
          <a:solidFill>
            <a:schemeClr val="bg1"/>
          </a:solidFill>
          <a:ln>
            <a:solidFill>
              <a:srgbClr val="005CB8"/>
            </a:solidFill>
          </a:ln>
        </p:spPr>
        <p:txBody>
          <a:bodyPr wrap="square" rtlCol="0">
            <a:spAutoFit/>
          </a:bodyPr>
          <a:lstStyle/>
          <a:p>
            <a:r>
              <a:rPr lang="en-GB" sz="900" dirty="0"/>
              <a:t>1.A lesser proportion of White people with NDH or Type 2 DM have a BMI in the normal range, compared to all White people.</a:t>
            </a:r>
          </a:p>
        </p:txBody>
      </p:sp>
      <p:cxnSp>
        <p:nvCxnSpPr>
          <p:cNvPr id="8" name="Straight Arrow Connector 7">
            <a:extLst>
              <a:ext uri="{FF2B5EF4-FFF2-40B4-BE49-F238E27FC236}">
                <a16:creationId xmlns:a16="http://schemas.microsoft.com/office/drawing/2014/main" id="{6723E599-C29F-43B6-AC15-677C65DC4C23}"/>
              </a:ext>
            </a:extLst>
          </p:cNvPr>
          <p:cNvCxnSpPr>
            <a:cxnSpLocks/>
          </p:cNvCxnSpPr>
          <p:nvPr/>
        </p:nvCxnSpPr>
        <p:spPr>
          <a:xfrm flipH="1">
            <a:off x="1691679" y="2868372"/>
            <a:ext cx="1" cy="420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EEA0F3-581E-4AA5-B8DD-C9DA65E56EBB}"/>
              </a:ext>
            </a:extLst>
          </p:cNvPr>
          <p:cNvCxnSpPr>
            <a:cxnSpLocks/>
          </p:cNvCxnSpPr>
          <p:nvPr/>
        </p:nvCxnSpPr>
        <p:spPr>
          <a:xfrm>
            <a:off x="1691679" y="2868372"/>
            <a:ext cx="432049" cy="268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DB3413F-E57D-4FBA-8B8A-2E0BD3075AAC}"/>
              </a:ext>
            </a:extLst>
          </p:cNvPr>
          <p:cNvSpPr txBox="1"/>
          <p:nvPr/>
        </p:nvSpPr>
        <p:spPr>
          <a:xfrm>
            <a:off x="2309874" y="2060897"/>
            <a:ext cx="1614054" cy="923330"/>
          </a:xfrm>
          <a:prstGeom prst="rect">
            <a:avLst/>
          </a:prstGeom>
          <a:solidFill>
            <a:schemeClr val="bg1"/>
          </a:solidFill>
          <a:ln>
            <a:solidFill>
              <a:srgbClr val="005CB8"/>
            </a:solidFill>
          </a:ln>
        </p:spPr>
        <p:txBody>
          <a:bodyPr wrap="square" rtlCol="0">
            <a:spAutoFit/>
          </a:bodyPr>
          <a:lstStyle/>
          <a:p>
            <a:r>
              <a:rPr lang="en-GB" sz="900" dirty="0"/>
              <a:t>2. Compared to all White people, a greater proportion of those with NDH are obese. An even greater proportion of those with T2DM are obese.</a:t>
            </a:r>
          </a:p>
        </p:txBody>
      </p:sp>
      <p:cxnSp>
        <p:nvCxnSpPr>
          <p:cNvPr id="13" name="Straight Arrow Connector 12">
            <a:extLst>
              <a:ext uri="{FF2B5EF4-FFF2-40B4-BE49-F238E27FC236}">
                <a16:creationId xmlns:a16="http://schemas.microsoft.com/office/drawing/2014/main" id="{15E58BF0-55C3-4B51-A398-664093E477C1}"/>
              </a:ext>
            </a:extLst>
          </p:cNvPr>
          <p:cNvCxnSpPr>
            <a:cxnSpLocks/>
          </p:cNvCxnSpPr>
          <p:nvPr/>
        </p:nvCxnSpPr>
        <p:spPr>
          <a:xfrm>
            <a:off x="3923928" y="2289651"/>
            <a:ext cx="2880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CFD1106-434E-4E1B-B2B8-8D1181CB3B1D}"/>
              </a:ext>
            </a:extLst>
          </p:cNvPr>
          <p:cNvSpPr txBox="1"/>
          <p:nvPr/>
        </p:nvSpPr>
        <p:spPr>
          <a:xfrm>
            <a:off x="5004048" y="2130147"/>
            <a:ext cx="1224136" cy="784830"/>
          </a:xfrm>
          <a:prstGeom prst="rect">
            <a:avLst/>
          </a:prstGeom>
          <a:solidFill>
            <a:schemeClr val="bg1"/>
          </a:solidFill>
          <a:ln>
            <a:solidFill>
              <a:srgbClr val="005CB8"/>
            </a:solidFill>
          </a:ln>
        </p:spPr>
        <p:txBody>
          <a:bodyPr wrap="square" rtlCol="0">
            <a:spAutoFit/>
          </a:bodyPr>
          <a:lstStyle/>
          <a:p>
            <a:r>
              <a:rPr lang="en-GB" sz="900" dirty="0"/>
              <a:t>3. Black people with NDH and Type 2 DM show a similar distribution across BMI groups.</a:t>
            </a:r>
          </a:p>
        </p:txBody>
      </p:sp>
      <p:sp>
        <p:nvSpPr>
          <p:cNvPr id="17" name="TextBox 16">
            <a:extLst>
              <a:ext uri="{FF2B5EF4-FFF2-40B4-BE49-F238E27FC236}">
                <a16:creationId xmlns:a16="http://schemas.microsoft.com/office/drawing/2014/main" id="{58FBED6A-6FA1-4347-B055-F6570E7B3BF6}"/>
              </a:ext>
            </a:extLst>
          </p:cNvPr>
          <p:cNvSpPr txBox="1"/>
          <p:nvPr/>
        </p:nvSpPr>
        <p:spPr>
          <a:xfrm>
            <a:off x="6426260" y="2130147"/>
            <a:ext cx="1386100" cy="784830"/>
          </a:xfrm>
          <a:prstGeom prst="rect">
            <a:avLst/>
          </a:prstGeom>
          <a:solidFill>
            <a:schemeClr val="bg1"/>
          </a:solidFill>
          <a:ln>
            <a:solidFill>
              <a:srgbClr val="005CB8"/>
            </a:solidFill>
          </a:ln>
        </p:spPr>
        <p:txBody>
          <a:bodyPr wrap="square" rtlCol="0">
            <a:spAutoFit/>
          </a:bodyPr>
          <a:lstStyle/>
          <a:p>
            <a:r>
              <a:rPr lang="en-GB" sz="900" dirty="0"/>
              <a:t>4. Compared to all Black people, a greater proportion of those with NDH and Type 2 DM are obese.</a:t>
            </a:r>
          </a:p>
        </p:txBody>
      </p:sp>
      <p:cxnSp>
        <p:nvCxnSpPr>
          <p:cNvPr id="19" name="Straight Arrow Connector 18">
            <a:extLst>
              <a:ext uri="{FF2B5EF4-FFF2-40B4-BE49-F238E27FC236}">
                <a16:creationId xmlns:a16="http://schemas.microsoft.com/office/drawing/2014/main" id="{1DDF2200-1A33-4398-92CB-E289273F436D}"/>
              </a:ext>
            </a:extLst>
          </p:cNvPr>
          <p:cNvCxnSpPr>
            <a:cxnSpLocks/>
          </p:cNvCxnSpPr>
          <p:nvPr/>
        </p:nvCxnSpPr>
        <p:spPr>
          <a:xfrm>
            <a:off x="7812360" y="2289651"/>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A4C3FB1-D874-465C-9875-9D1910255EB4}"/>
              </a:ext>
            </a:extLst>
          </p:cNvPr>
          <p:cNvSpPr txBox="1"/>
          <p:nvPr/>
        </p:nvSpPr>
        <p:spPr>
          <a:xfrm>
            <a:off x="1495503" y="4290387"/>
            <a:ext cx="2286405" cy="646331"/>
          </a:xfrm>
          <a:prstGeom prst="rect">
            <a:avLst/>
          </a:prstGeom>
          <a:solidFill>
            <a:schemeClr val="bg1"/>
          </a:solidFill>
          <a:ln>
            <a:solidFill>
              <a:srgbClr val="005CB8"/>
            </a:solidFill>
          </a:ln>
        </p:spPr>
        <p:txBody>
          <a:bodyPr wrap="square" rtlCol="0">
            <a:spAutoFit/>
          </a:bodyPr>
          <a:lstStyle/>
          <a:p>
            <a:r>
              <a:rPr lang="en-GB" sz="900" dirty="0"/>
              <a:t>5. Compared to all Asian people, those with NDH or Type 2 DM are more likely to be obese, but this is less pronounced than for other ethnic groups.</a:t>
            </a:r>
          </a:p>
        </p:txBody>
      </p:sp>
      <p:sp>
        <p:nvSpPr>
          <p:cNvPr id="22" name="TextBox 21">
            <a:extLst>
              <a:ext uri="{FF2B5EF4-FFF2-40B4-BE49-F238E27FC236}">
                <a16:creationId xmlns:a16="http://schemas.microsoft.com/office/drawing/2014/main" id="{9A6AD99E-9329-4A54-986E-09E29BB73151}"/>
              </a:ext>
            </a:extLst>
          </p:cNvPr>
          <p:cNvSpPr txBox="1"/>
          <p:nvPr/>
        </p:nvSpPr>
        <p:spPr>
          <a:xfrm>
            <a:off x="4932041" y="4290387"/>
            <a:ext cx="3024336" cy="646331"/>
          </a:xfrm>
          <a:prstGeom prst="rect">
            <a:avLst/>
          </a:prstGeom>
          <a:solidFill>
            <a:schemeClr val="bg1"/>
          </a:solidFill>
          <a:ln>
            <a:solidFill>
              <a:srgbClr val="005CB8"/>
            </a:solidFill>
          </a:ln>
        </p:spPr>
        <p:txBody>
          <a:bodyPr wrap="square" rtlCol="0">
            <a:spAutoFit/>
          </a:bodyPr>
          <a:lstStyle/>
          <a:p>
            <a:r>
              <a:rPr lang="en-GB" sz="900" dirty="0"/>
              <a:t>6. The Mixed ethnic group also has a greater proportion of people with an obese BMI, and a lesser proportion with a normal BMI, if people have NDH or Type 2 DM, compared to all people in the ethnic group.</a:t>
            </a:r>
          </a:p>
        </p:txBody>
      </p:sp>
      <p:cxnSp>
        <p:nvCxnSpPr>
          <p:cNvPr id="24" name="Straight Arrow Connector 23">
            <a:extLst>
              <a:ext uri="{FF2B5EF4-FFF2-40B4-BE49-F238E27FC236}">
                <a16:creationId xmlns:a16="http://schemas.microsoft.com/office/drawing/2014/main" id="{7E8EE03E-79BF-41E0-97E4-9C996787DA3D}"/>
              </a:ext>
            </a:extLst>
          </p:cNvPr>
          <p:cNvCxnSpPr/>
          <p:nvPr/>
        </p:nvCxnSpPr>
        <p:spPr>
          <a:xfrm flipH="1">
            <a:off x="5940152" y="4936718"/>
            <a:ext cx="288032" cy="433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6EF8CC4-5003-4AF4-9089-AD918FC62BE0}"/>
              </a:ext>
            </a:extLst>
          </p:cNvPr>
          <p:cNvCxnSpPr>
            <a:cxnSpLocks/>
          </p:cNvCxnSpPr>
          <p:nvPr/>
        </p:nvCxnSpPr>
        <p:spPr>
          <a:xfrm>
            <a:off x="6228184" y="4936718"/>
            <a:ext cx="288032" cy="433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069CCE5-6D12-4630-9689-2EDB768B9EA5}"/>
              </a:ext>
            </a:extLst>
          </p:cNvPr>
          <p:cNvCxnSpPr>
            <a:cxnSpLocks/>
          </p:cNvCxnSpPr>
          <p:nvPr/>
        </p:nvCxnSpPr>
        <p:spPr>
          <a:xfrm>
            <a:off x="7954380" y="4650427"/>
            <a:ext cx="2180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AF209CB-CED1-46AE-A3E9-C405F343641C}"/>
              </a:ext>
            </a:extLst>
          </p:cNvPr>
          <p:cNvSpPr txBox="1"/>
          <p:nvPr/>
        </p:nvSpPr>
        <p:spPr>
          <a:xfrm rot="16200000">
            <a:off x="6785561" y="3934797"/>
            <a:ext cx="4261246" cy="369332"/>
          </a:xfrm>
          <a:prstGeom prst="rect">
            <a:avLst/>
          </a:prstGeom>
          <a:solidFill>
            <a:schemeClr val="bg1"/>
          </a:solidFill>
          <a:ln>
            <a:solidFill>
              <a:schemeClr val="tx1"/>
            </a:solidFill>
          </a:ln>
        </p:spPr>
        <p:txBody>
          <a:bodyPr wrap="square" rtlCol="0">
            <a:spAutoFit/>
          </a:bodyPr>
          <a:lstStyle/>
          <a:p>
            <a:r>
              <a:rPr lang="en-GB" sz="900" dirty="0"/>
              <a:t>BMI less than 18.5 – underweight	                BMI 18.5 to less than 25 – normal</a:t>
            </a:r>
          </a:p>
          <a:p>
            <a:r>
              <a:rPr lang="en-GB" sz="900" dirty="0"/>
              <a:t>BMI 25 to less than 30 – overweight	                BMI 30 or more – obese</a:t>
            </a:r>
          </a:p>
        </p:txBody>
      </p:sp>
      <p:sp>
        <p:nvSpPr>
          <p:cNvPr id="9" name="Rectangle 8">
            <a:extLst>
              <a:ext uri="{FF2B5EF4-FFF2-40B4-BE49-F238E27FC236}">
                <a16:creationId xmlns:a16="http://schemas.microsoft.com/office/drawing/2014/main" id="{47E1D61C-5B4F-4BFD-AB5F-F7C4A6F3CF78}"/>
              </a:ext>
            </a:extLst>
          </p:cNvPr>
          <p:cNvSpPr/>
          <p:nvPr/>
        </p:nvSpPr>
        <p:spPr>
          <a:xfrm>
            <a:off x="0" y="6382911"/>
            <a:ext cx="8265610" cy="484748"/>
          </a:xfrm>
          <a:prstGeom prst="rect">
            <a:avLst/>
          </a:prstGeom>
        </p:spPr>
        <p:txBody>
          <a:bodyPr wrap="square">
            <a:spAutoFit/>
          </a:bodyPr>
          <a:lstStyle/>
          <a:p>
            <a:r>
              <a:rPr lang="en-GB" sz="850" b="1" dirty="0"/>
              <a:t>Notes:      </a:t>
            </a:r>
            <a:r>
              <a:rPr lang="en-GB" sz="850" dirty="0"/>
              <a:t>1. Data taken from Health Survey for England, 2017: </a:t>
            </a:r>
            <a:r>
              <a:rPr lang="en-GB" sz="850" dirty="0">
                <a:hlinkClick r:id="rId4"/>
              </a:rPr>
              <a:t>Adult and Child overweight and obesity</a:t>
            </a:r>
            <a:r>
              <a:rPr lang="en-GB" sz="850" dirty="0"/>
              <a:t>.     2. People included: All ages      </a:t>
            </a:r>
          </a:p>
          <a:p>
            <a:r>
              <a:rPr lang="en-GB" sz="850" dirty="0"/>
              <a:t>3. People included (NDH, T2DM): registered at a GP practice that participated in NDA 2017-18.	     4. People included (T2DM): those who did not have type 1 diabetes.      5. People included (from Health Survey for England): aged 16 years and over with height / weight measurements (age-standardised).	</a:t>
            </a:r>
          </a:p>
        </p:txBody>
      </p:sp>
    </p:spTree>
    <p:extLst>
      <p:ext uri="{BB962C8B-B14F-4D97-AF65-F5344CB8AC3E}">
        <p14:creationId xmlns:p14="http://schemas.microsoft.com/office/powerpoint/2010/main" val="1211702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9BB8-9966-45C3-BD30-A6D872CFCBF7}"/>
              </a:ext>
            </a:extLst>
          </p:cNvPr>
          <p:cNvSpPr>
            <a:spLocks noGrp="1"/>
          </p:cNvSpPr>
          <p:nvPr>
            <p:ph type="title"/>
          </p:nvPr>
        </p:nvSpPr>
        <p:spPr>
          <a:xfrm>
            <a:off x="567870" y="908720"/>
            <a:ext cx="8252602" cy="5184576"/>
          </a:xfrm>
        </p:spPr>
        <p:txBody>
          <a:bodyPr>
            <a:noAutofit/>
          </a:bodyPr>
          <a:lstStyle/>
          <a:p>
            <a:r>
              <a:rPr lang="en-GB" sz="4800" dirty="0"/>
              <a:t>Impact of Behaviour Change Programmes</a:t>
            </a:r>
            <a:br>
              <a:rPr lang="en-GB" sz="4800" dirty="0"/>
            </a:br>
            <a:endParaRPr lang="en-GB" sz="4800" dirty="0"/>
          </a:p>
        </p:txBody>
      </p:sp>
      <p:sp>
        <p:nvSpPr>
          <p:cNvPr id="4" name="Slide Number Placeholder 3">
            <a:extLst>
              <a:ext uri="{FF2B5EF4-FFF2-40B4-BE49-F238E27FC236}">
                <a16:creationId xmlns:a16="http://schemas.microsoft.com/office/drawing/2014/main" id="{C649D9E7-9C43-4F89-A7C2-1F4C36EC73B8}"/>
              </a:ext>
            </a:extLst>
          </p:cNvPr>
          <p:cNvSpPr>
            <a:spLocks noGrp="1"/>
          </p:cNvSpPr>
          <p:nvPr>
            <p:ph type="sldNum" sz="quarter" idx="12"/>
          </p:nvPr>
        </p:nvSpPr>
        <p:spPr/>
        <p:txBody>
          <a:bodyPr/>
          <a:lstStyle/>
          <a:p>
            <a:fld id="{4F2E129E-16B7-480B-972E-C025DBFD1D53}" type="slidenum">
              <a:rPr lang="en-GB" smtClean="0"/>
              <a:pPr/>
              <a:t>12</a:t>
            </a:fld>
            <a:endParaRPr lang="en-GB" dirty="0"/>
          </a:p>
        </p:txBody>
      </p:sp>
    </p:spTree>
    <p:extLst>
      <p:ext uri="{BB962C8B-B14F-4D97-AF65-F5344CB8AC3E}">
        <p14:creationId xmlns:p14="http://schemas.microsoft.com/office/powerpoint/2010/main" val="3655599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2D16-0796-47C7-B173-05373069B6FE}"/>
              </a:ext>
            </a:extLst>
          </p:cNvPr>
          <p:cNvSpPr>
            <a:spLocks noGrp="1"/>
          </p:cNvSpPr>
          <p:nvPr>
            <p:ph type="title"/>
          </p:nvPr>
        </p:nvSpPr>
        <p:spPr>
          <a:xfrm>
            <a:off x="360000" y="331200"/>
            <a:ext cx="7632000" cy="706091"/>
          </a:xfrm>
        </p:spPr>
        <p:txBody>
          <a:bodyPr>
            <a:normAutofit/>
          </a:bodyPr>
          <a:lstStyle/>
          <a:p>
            <a:r>
              <a:rPr lang="en-GB" sz="3300" dirty="0"/>
              <a:t>Current limitations and future plans	</a:t>
            </a:r>
          </a:p>
        </p:txBody>
      </p:sp>
      <p:sp>
        <p:nvSpPr>
          <p:cNvPr id="3" name="Content Placeholder 2">
            <a:extLst>
              <a:ext uri="{FF2B5EF4-FFF2-40B4-BE49-F238E27FC236}">
                <a16:creationId xmlns:a16="http://schemas.microsoft.com/office/drawing/2014/main" id="{C6D63C63-25F7-4955-BCF2-103C7A5520D8}"/>
              </a:ext>
            </a:extLst>
          </p:cNvPr>
          <p:cNvSpPr>
            <a:spLocks noGrp="1"/>
          </p:cNvSpPr>
          <p:nvPr>
            <p:ph idx="1"/>
          </p:nvPr>
        </p:nvSpPr>
        <p:spPr>
          <a:xfrm>
            <a:off x="2123728" y="1484784"/>
            <a:ext cx="6408712" cy="1250584"/>
          </a:xfrm>
        </p:spPr>
        <p:txBody>
          <a:bodyPr>
            <a:normAutofit/>
          </a:bodyPr>
          <a:lstStyle/>
          <a:p>
            <a:pPr marL="0" indent="0">
              <a:buNone/>
            </a:pPr>
            <a:r>
              <a:rPr lang="en-GB" sz="2000" dirty="0"/>
              <a:t>There is not yet sufficient data to make an assessment on whether the behaviour change programmes are having an impact on reducing weight, progression to Type 2 Diabetes and other cardiovascular risk factors.</a:t>
            </a:r>
          </a:p>
        </p:txBody>
      </p:sp>
      <p:sp>
        <p:nvSpPr>
          <p:cNvPr id="4" name="Slide Number Placeholder 3">
            <a:extLst>
              <a:ext uri="{FF2B5EF4-FFF2-40B4-BE49-F238E27FC236}">
                <a16:creationId xmlns:a16="http://schemas.microsoft.com/office/drawing/2014/main" id="{1EE56993-FB5B-4323-9FF4-BAC654C12F08}"/>
              </a:ext>
            </a:extLst>
          </p:cNvPr>
          <p:cNvSpPr>
            <a:spLocks noGrp="1"/>
          </p:cNvSpPr>
          <p:nvPr>
            <p:ph type="sldNum" sz="quarter" idx="12"/>
          </p:nvPr>
        </p:nvSpPr>
        <p:spPr/>
        <p:txBody>
          <a:bodyPr/>
          <a:lstStyle/>
          <a:p>
            <a:fld id="{280AA684-6FB9-400F-B313-F111F0F48737}" type="slidenum">
              <a:rPr lang="en-GB" smtClean="0"/>
              <a:t>13</a:t>
            </a:fld>
            <a:endParaRPr lang="en-GB" dirty="0"/>
          </a:p>
        </p:txBody>
      </p:sp>
      <p:sp>
        <p:nvSpPr>
          <p:cNvPr id="5" name="Content Placeholder 2">
            <a:extLst>
              <a:ext uri="{FF2B5EF4-FFF2-40B4-BE49-F238E27FC236}">
                <a16:creationId xmlns:a16="http://schemas.microsoft.com/office/drawing/2014/main" id="{459E6FED-AEDB-47DA-8994-C5C4B0801F76}"/>
              </a:ext>
            </a:extLst>
          </p:cNvPr>
          <p:cNvSpPr txBox="1">
            <a:spLocks/>
          </p:cNvSpPr>
          <p:nvPr/>
        </p:nvSpPr>
        <p:spPr>
          <a:xfrm>
            <a:off x="552514" y="5058737"/>
            <a:ext cx="6035710" cy="1250584"/>
          </a:xfrm>
          <a:prstGeom prst="rect">
            <a:avLst/>
          </a:prstGeom>
        </p:spPr>
        <p:txBody>
          <a:bodyPr vert="horz" lIns="0" tIns="0" rIns="0" bIns="0" rtlCol="0">
            <a:normAutofit/>
          </a:bodyPr>
          <a:lstStyle>
            <a:lvl1pPr marL="342900" indent="-342900" algn="l" defTabSz="914400" rtl="0" eaLnBrk="1" latinLnBrk="0" hangingPunct="1">
              <a:spcBef>
                <a:spcPct val="20000"/>
              </a:spcBef>
              <a:buFont typeface="Arial" pitchFamily="34" charset="0"/>
              <a:buChar char="•"/>
              <a:defRPr sz="2400" kern="1200">
                <a:solidFill>
                  <a:schemeClr val="accent6"/>
                </a:solidFill>
                <a:latin typeface="+mn-lt"/>
                <a:ea typeface="+mn-ea"/>
                <a:cs typeface="+mn-cs"/>
              </a:defRPr>
            </a:lvl1pPr>
            <a:lvl2pPr marL="742950" indent="-285750" algn="l" defTabSz="914400" rtl="0" eaLnBrk="1" latinLnBrk="0" hangingPunct="1">
              <a:spcBef>
                <a:spcPct val="20000"/>
              </a:spcBef>
              <a:buFont typeface="Arial" pitchFamily="34" charset="0"/>
              <a:buChar char="–"/>
              <a:defRPr sz="2100" kern="1200">
                <a:solidFill>
                  <a:schemeClr val="accent6"/>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1800" kern="1200">
                <a:solidFill>
                  <a:schemeClr val="accent6"/>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100" kern="1200">
                <a:solidFill>
                  <a:schemeClr val="accen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750" kern="1200">
                <a:solidFill>
                  <a:schemeClr val="accen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000" dirty="0"/>
              <a:t>The GP data will be linked to the behaviour change programme provider data at person level in order to investigate the full journey of diagnosis through education and subsequent outcomes.</a:t>
            </a:r>
          </a:p>
          <a:p>
            <a:pPr marL="0" indent="0">
              <a:buFont typeface="Arial" pitchFamily="34" charset="0"/>
              <a:buNone/>
            </a:pPr>
            <a:endParaRPr lang="en-GB" dirty="0"/>
          </a:p>
        </p:txBody>
      </p:sp>
      <p:sp>
        <p:nvSpPr>
          <p:cNvPr id="6" name="Rectangle 5">
            <a:extLst>
              <a:ext uri="{FF2B5EF4-FFF2-40B4-BE49-F238E27FC236}">
                <a16:creationId xmlns:a16="http://schemas.microsoft.com/office/drawing/2014/main" id="{FA17E606-B95F-49E8-B56E-4B46B63BB98A}"/>
              </a:ext>
            </a:extLst>
          </p:cNvPr>
          <p:cNvSpPr/>
          <p:nvPr/>
        </p:nvSpPr>
        <p:spPr>
          <a:xfrm>
            <a:off x="467544" y="4439919"/>
            <a:ext cx="2808312" cy="523220"/>
          </a:xfrm>
          <a:prstGeom prst="rect">
            <a:avLst/>
          </a:prstGeom>
        </p:spPr>
        <p:txBody>
          <a:bodyPr wrap="square">
            <a:spAutoFit/>
          </a:bodyPr>
          <a:lstStyle/>
          <a:p>
            <a:r>
              <a:rPr lang="en-GB" sz="2800" b="1" dirty="0">
                <a:solidFill>
                  <a:srgbClr val="005EB8"/>
                </a:solidFill>
              </a:rPr>
              <a:t>Future plans</a:t>
            </a:r>
          </a:p>
        </p:txBody>
      </p:sp>
      <p:pic>
        <p:nvPicPr>
          <p:cNvPr id="9" name="Picture 8">
            <a:extLst>
              <a:ext uri="{FF2B5EF4-FFF2-40B4-BE49-F238E27FC236}">
                <a16:creationId xmlns:a16="http://schemas.microsoft.com/office/drawing/2014/main" id="{E29682D4-608D-4AE6-B525-C079D96D9CC4}"/>
              </a:ext>
            </a:extLst>
          </p:cNvPr>
          <p:cNvPicPr>
            <a:picLocks noChangeAspect="1"/>
          </p:cNvPicPr>
          <p:nvPr/>
        </p:nvPicPr>
        <p:blipFill>
          <a:blip r:embed="rId2"/>
          <a:stretch>
            <a:fillRect/>
          </a:stretch>
        </p:blipFill>
        <p:spPr>
          <a:xfrm>
            <a:off x="467544" y="1412776"/>
            <a:ext cx="1428750" cy="1428750"/>
          </a:xfrm>
          <a:prstGeom prst="rect">
            <a:avLst/>
          </a:prstGeom>
        </p:spPr>
      </p:pic>
      <p:sp>
        <p:nvSpPr>
          <p:cNvPr id="10" name="Content Placeholder 2">
            <a:extLst>
              <a:ext uri="{FF2B5EF4-FFF2-40B4-BE49-F238E27FC236}">
                <a16:creationId xmlns:a16="http://schemas.microsoft.com/office/drawing/2014/main" id="{3ACFD2B1-5392-47BB-85B7-D9E2485408CC}"/>
              </a:ext>
            </a:extLst>
          </p:cNvPr>
          <p:cNvSpPr txBox="1">
            <a:spLocks/>
          </p:cNvSpPr>
          <p:nvPr/>
        </p:nvSpPr>
        <p:spPr>
          <a:xfrm>
            <a:off x="2123728" y="3360660"/>
            <a:ext cx="6552728" cy="870846"/>
          </a:xfrm>
          <a:prstGeom prst="rect">
            <a:avLst/>
          </a:prstGeom>
        </p:spPr>
        <p:txBody>
          <a:bodyPr vert="horz" lIns="0" tIns="0" rIns="0" bIns="0" rtlCol="0">
            <a:normAutofit/>
          </a:bodyPr>
          <a:lstStyle>
            <a:lvl1pPr marL="342900" indent="-342900" algn="l" defTabSz="914400" rtl="0" eaLnBrk="1" latinLnBrk="0" hangingPunct="1">
              <a:spcBef>
                <a:spcPct val="20000"/>
              </a:spcBef>
              <a:buFont typeface="Arial" pitchFamily="34" charset="0"/>
              <a:buChar char="•"/>
              <a:defRPr sz="2400" kern="1200">
                <a:solidFill>
                  <a:schemeClr val="accent6"/>
                </a:solidFill>
                <a:latin typeface="+mn-lt"/>
                <a:ea typeface="+mn-ea"/>
                <a:cs typeface="+mn-cs"/>
              </a:defRPr>
            </a:lvl1pPr>
            <a:lvl2pPr marL="742950" indent="-285750" algn="l" defTabSz="914400" rtl="0" eaLnBrk="1" latinLnBrk="0" hangingPunct="1">
              <a:spcBef>
                <a:spcPct val="20000"/>
              </a:spcBef>
              <a:buFont typeface="Arial" pitchFamily="34" charset="0"/>
              <a:buChar char="–"/>
              <a:defRPr sz="2100" kern="1200">
                <a:solidFill>
                  <a:schemeClr val="accent6"/>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1800" kern="1200">
                <a:solidFill>
                  <a:schemeClr val="accent6"/>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100" kern="1200">
                <a:solidFill>
                  <a:schemeClr val="accen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750" kern="1200">
                <a:solidFill>
                  <a:schemeClr val="accen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000" dirty="0"/>
              <a:t>This will be investigated in future reports on the Diabetes Prevention Programme.</a:t>
            </a:r>
          </a:p>
          <a:p>
            <a:pPr marL="0" indent="0">
              <a:buFont typeface="Arial" pitchFamily="34" charset="0"/>
              <a:buNone/>
            </a:pPr>
            <a:endParaRPr lang="en-GB" sz="2000" dirty="0"/>
          </a:p>
        </p:txBody>
      </p:sp>
      <p:pic>
        <p:nvPicPr>
          <p:cNvPr id="11" name="Picture 10">
            <a:extLst>
              <a:ext uri="{FF2B5EF4-FFF2-40B4-BE49-F238E27FC236}">
                <a16:creationId xmlns:a16="http://schemas.microsoft.com/office/drawing/2014/main" id="{67B8B2C7-F6A0-4844-9375-5713C0206B69}"/>
              </a:ext>
            </a:extLst>
          </p:cNvPr>
          <p:cNvPicPr>
            <a:picLocks noChangeAspect="1"/>
          </p:cNvPicPr>
          <p:nvPr/>
        </p:nvPicPr>
        <p:blipFill>
          <a:blip r:embed="rId3"/>
          <a:stretch>
            <a:fillRect/>
          </a:stretch>
        </p:blipFill>
        <p:spPr>
          <a:xfrm>
            <a:off x="467543" y="2954381"/>
            <a:ext cx="1485537" cy="1485537"/>
          </a:xfrm>
          <a:prstGeom prst="rect">
            <a:avLst/>
          </a:prstGeom>
        </p:spPr>
      </p:pic>
      <p:pic>
        <p:nvPicPr>
          <p:cNvPr id="12" name="Picture 11">
            <a:extLst>
              <a:ext uri="{FF2B5EF4-FFF2-40B4-BE49-F238E27FC236}">
                <a16:creationId xmlns:a16="http://schemas.microsoft.com/office/drawing/2014/main" id="{131C63CA-42EF-4331-B9E8-FB823E8062ED}"/>
              </a:ext>
            </a:extLst>
          </p:cNvPr>
          <p:cNvPicPr>
            <a:picLocks noChangeAspect="1"/>
          </p:cNvPicPr>
          <p:nvPr/>
        </p:nvPicPr>
        <p:blipFill>
          <a:blip r:embed="rId4"/>
          <a:stretch>
            <a:fillRect/>
          </a:stretch>
        </p:blipFill>
        <p:spPr>
          <a:xfrm>
            <a:off x="6528792" y="4439918"/>
            <a:ext cx="1905000" cy="1914525"/>
          </a:xfrm>
          <a:prstGeom prst="rect">
            <a:avLst/>
          </a:prstGeom>
        </p:spPr>
      </p:pic>
    </p:spTree>
    <p:extLst>
      <p:ext uri="{BB962C8B-B14F-4D97-AF65-F5344CB8AC3E}">
        <p14:creationId xmlns:p14="http://schemas.microsoft.com/office/powerpoint/2010/main" val="3548508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nvGraphicFramePr>
        <p:xfrm>
          <a:off x="186722" y="1340768"/>
          <a:ext cx="8705758" cy="4010380"/>
        </p:xfrm>
        <a:graphic>
          <a:graphicData uri="http://schemas.openxmlformats.org/drawingml/2006/table">
            <a:tbl>
              <a:tblPr firstRow="1" firstCol="1" bandRow="1">
                <a:tableStyleId>{5C22544A-7EE6-4342-B048-85BDC9FD1C3A}</a:tableStyleId>
              </a:tblPr>
              <a:tblGrid>
                <a:gridCol w="2516802">
                  <a:extLst>
                    <a:ext uri="{9D8B030D-6E8A-4147-A177-3AD203B41FA5}">
                      <a16:colId xmlns:a16="http://schemas.microsoft.com/office/drawing/2014/main" val="20000"/>
                    </a:ext>
                  </a:extLst>
                </a:gridCol>
                <a:gridCol w="6188956">
                  <a:extLst>
                    <a:ext uri="{9D8B030D-6E8A-4147-A177-3AD203B41FA5}">
                      <a16:colId xmlns:a16="http://schemas.microsoft.com/office/drawing/2014/main" val="20001"/>
                    </a:ext>
                  </a:extLst>
                </a:gridCol>
              </a:tblGrid>
              <a:tr h="2376264">
                <a:tc>
                  <a:txBody>
                    <a:bodyPr/>
                    <a:lstStyle/>
                    <a:p>
                      <a:pPr algn="ctr">
                        <a:spcAft>
                          <a:spcPts val="0"/>
                        </a:spcAft>
                      </a:pPr>
                      <a:endParaRPr lang="en-GB" sz="1300" dirty="0">
                        <a:solidFill>
                          <a:sysClr val="windowText" lastClr="000000"/>
                        </a:solidFill>
                        <a:effectLst/>
                      </a:endParaRPr>
                    </a:p>
                    <a:p>
                      <a:pPr>
                        <a:spcAft>
                          <a:spcPts val="0"/>
                        </a:spcAft>
                      </a:pPr>
                      <a:r>
                        <a:rPr lang="en-GB" sz="1300" dirty="0">
                          <a:solidFill>
                            <a:sysClr val="windowText" lastClr="000000"/>
                          </a:solidFill>
                          <a:effectLst/>
                        </a:rPr>
                        <a:t> </a:t>
                      </a:r>
                    </a:p>
                    <a:p>
                      <a:pPr>
                        <a:spcAft>
                          <a:spcPts val="0"/>
                        </a:spcAft>
                      </a:pPr>
                      <a:r>
                        <a:rPr lang="en-GB" sz="1300" dirty="0">
                          <a:solidFill>
                            <a:sysClr val="windowText" lastClr="000000"/>
                          </a:solidFill>
                          <a:effectLst/>
                        </a:rPr>
                        <a:t> </a:t>
                      </a:r>
                      <a:endParaRPr lang="en-GB" sz="1300" dirty="0">
                        <a:solidFill>
                          <a:sysClr val="windowText" lastClr="000000"/>
                        </a:solidFill>
                        <a:effectLst/>
                        <a:latin typeface="Arial"/>
                        <a:ea typeface="Times New Roman"/>
                        <a:cs typeface="Times New Roman"/>
                      </a:endParaRPr>
                    </a:p>
                  </a:txBody>
                  <a:tcPr marL="56732" marR="56732"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tc>
                  <a:txBody>
                    <a:bodyPr/>
                    <a:lstStyle/>
                    <a:p>
                      <a:pPr>
                        <a:spcAft>
                          <a:spcPts val="0"/>
                        </a:spcAft>
                      </a:pPr>
                      <a:r>
                        <a:rPr lang="en-GB" sz="1200" dirty="0">
                          <a:solidFill>
                            <a:schemeClr val="accent6"/>
                          </a:solidFill>
                          <a:effectLst/>
                          <a:latin typeface="+mn-lt"/>
                        </a:rPr>
                        <a:t>The Healthcare Quality Improvement Partnership (HQIP). </a:t>
                      </a:r>
                      <a:r>
                        <a:rPr lang="en-GB" sz="1200" b="0" dirty="0">
                          <a:solidFill>
                            <a:schemeClr val="accent6"/>
                          </a:solidFill>
                          <a:effectLst/>
                          <a:latin typeface="+mn-lt"/>
                        </a:rPr>
                        <a:t>The National Diabetes Audit (NDA) is part of the National Clinical Audit and Patient Outcomes Programme (NCAPOP) which is commissioned by the Healthcare Quality Improvement Partnership (HQIP) and funded by NHS England. HQIP is led by a consortium of the Academy of Medical Royal Colleges, the Royal College of Nursing and National Voices. Its aim is to promote quality improvement, and in particular to increase the impact that clinical audit has on healthcare quality in England and Wales. HQIP holds the contract to manage and develop the NCAPOP Programme, comprising more than 30 clinical audits that cover care provided to people with a wide range of medical, surgical and mental health conditions. The programme is funded by NHS England, the Welsh Government and, with some individual audits, also funded by the Health Department of the Scottish Government, DHSSPS Northern Ireland and the Channel Islands.</a:t>
                      </a:r>
                    </a:p>
                  </a:txBody>
                  <a:tcPr marL="56732" marR="56732"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10000"/>
                  </a:ext>
                </a:extLst>
              </a:tr>
              <a:tr h="936104">
                <a:tc>
                  <a:txBody>
                    <a:bodyPr/>
                    <a:lstStyle/>
                    <a:p>
                      <a:pPr algn="ctr">
                        <a:spcAft>
                          <a:spcPts val="0"/>
                        </a:spcAft>
                      </a:pPr>
                      <a:endParaRPr lang="en-GB" sz="1300" dirty="0">
                        <a:solidFill>
                          <a:sysClr val="windowText" lastClr="000000"/>
                        </a:solidFill>
                        <a:effectLst/>
                      </a:endParaRPr>
                    </a:p>
                    <a:p>
                      <a:pPr algn="ctr">
                        <a:spcAft>
                          <a:spcPts val="0"/>
                        </a:spcAft>
                      </a:pPr>
                      <a:r>
                        <a:rPr lang="en-GB" sz="1300" dirty="0">
                          <a:solidFill>
                            <a:sysClr val="windowText" lastClr="000000"/>
                          </a:solidFill>
                          <a:effectLst/>
                        </a:rPr>
                        <a:t> </a:t>
                      </a:r>
                    </a:p>
                    <a:p>
                      <a:pPr>
                        <a:spcAft>
                          <a:spcPts val="0"/>
                        </a:spcAft>
                      </a:pPr>
                      <a:r>
                        <a:rPr lang="en-GB" sz="1300" dirty="0">
                          <a:solidFill>
                            <a:sysClr val="windowText" lastClr="000000"/>
                          </a:solidFill>
                          <a:effectLst/>
                        </a:rPr>
                        <a:t> </a:t>
                      </a:r>
                      <a:endParaRPr lang="en-GB" sz="1300" dirty="0">
                        <a:solidFill>
                          <a:sysClr val="windowText" lastClr="000000"/>
                        </a:solidFill>
                        <a:effectLst/>
                        <a:latin typeface="Arial"/>
                        <a:ea typeface="Times New Roman"/>
                        <a:cs typeface="Times New Roman"/>
                      </a:endParaRPr>
                    </a:p>
                  </a:txBody>
                  <a:tcPr marL="56732" marR="56732"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alpha val="0"/>
                      </a:schemeClr>
                    </a:solidFill>
                  </a:tcPr>
                </a:tc>
                <a:tc>
                  <a:txBody>
                    <a:bodyPr/>
                    <a:lstStyle/>
                    <a:p>
                      <a:pPr marL="0" algn="l" defTabSz="914400" rtl="0" eaLnBrk="1" latinLnBrk="0" hangingPunct="1">
                        <a:spcAft>
                          <a:spcPts val="0"/>
                        </a:spcAft>
                      </a:pPr>
                      <a:r>
                        <a:rPr lang="en-GB" sz="1200" b="1" kern="1200" dirty="0">
                          <a:solidFill>
                            <a:schemeClr val="accent6"/>
                          </a:solidFill>
                          <a:effectLst/>
                          <a:latin typeface="+mn-lt"/>
                          <a:ea typeface="+mn-ea"/>
                          <a:cs typeface="+mn-cs"/>
                        </a:rPr>
                        <a:t>NHS Digital </a:t>
                      </a:r>
                      <a:r>
                        <a:rPr lang="en-GB" sz="1200" b="0" kern="1200" dirty="0">
                          <a:solidFill>
                            <a:schemeClr val="accent6"/>
                          </a:solidFill>
                          <a:effectLst/>
                          <a:latin typeface="+mn-lt"/>
                          <a:ea typeface="+mn-ea"/>
                          <a:cs typeface="+mn-cs"/>
                        </a:rPr>
                        <a:t>is the trading name for the Health and Social Care Information Centre (HSCIC). NHS Digital managed the publication of the 2017-18 annual report.</a:t>
                      </a:r>
                    </a:p>
                  </a:txBody>
                  <a:tcPr marL="56732" marR="56732"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10001"/>
                  </a:ext>
                </a:extLst>
              </a:tr>
              <a:tr h="698012">
                <a:tc>
                  <a:txBody>
                    <a:bodyPr/>
                    <a:lstStyle/>
                    <a:p>
                      <a:pPr algn="ctr">
                        <a:spcAft>
                          <a:spcPts val="0"/>
                        </a:spcAft>
                      </a:pPr>
                      <a:endParaRPr lang="en-GB" sz="1300" dirty="0">
                        <a:solidFill>
                          <a:sysClr val="windowText" lastClr="000000"/>
                        </a:solidFill>
                        <a:effectLst/>
                      </a:endParaRPr>
                    </a:p>
                    <a:p>
                      <a:pPr>
                        <a:spcAft>
                          <a:spcPts val="0"/>
                        </a:spcAft>
                      </a:pPr>
                      <a:r>
                        <a:rPr lang="en-GB" sz="1300" dirty="0">
                          <a:solidFill>
                            <a:sysClr val="windowText" lastClr="000000"/>
                          </a:solidFill>
                          <a:effectLst/>
                        </a:rPr>
                        <a:t> </a:t>
                      </a:r>
                    </a:p>
                    <a:p>
                      <a:pPr>
                        <a:spcAft>
                          <a:spcPts val="0"/>
                        </a:spcAft>
                      </a:pPr>
                      <a:r>
                        <a:rPr lang="en-GB" sz="1300" dirty="0">
                          <a:solidFill>
                            <a:sysClr val="windowText" lastClr="000000"/>
                          </a:solidFill>
                          <a:effectLst/>
                        </a:rPr>
                        <a:t> </a:t>
                      </a:r>
                      <a:endParaRPr lang="en-GB" sz="1300" dirty="0">
                        <a:solidFill>
                          <a:sysClr val="windowText" lastClr="000000"/>
                        </a:solidFill>
                        <a:effectLst/>
                        <a:latin typeface="Arial"/>
                        <a:ea typeface="Times New Roman"/>
                        <a:cs typeface="Times New Roman"/>
                      </a:endParaRPr>
                    </a:p>
                  </a:txBody>
                  <a:tcPr marL="56732" marR="56732"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0"/>
                      </a:schemeClr>
                    </a:solidFill>
                  </a:tcPr>
                </a:tc>
                <a:tc>
                  <a:txBody>
                    <a:bodyPr/>
                    <a:lstStyle/>
                    <a:p>
                      <a:pPr>
                        <a:spcAft>
                          <a:spcPts val="0"/>
                        </a:spcAft>
                      </a:pPr>
                      <a:r>
                        <a:rPr lang="en-GB" sz="1200" b="1" dirty="0">
                          <a:solidFill>
                            <a:schemeClr val="accent6"/>
                          </a:solidFill>
                          <a:effectLst/>
                        </a:rPr>
                        <a:t>Diabetes UK </a:t>
                      </a:r>
                      <a:r>
                        <a:rPr lang="en-GB" sz="1200" b="0" dirty="0">
                          <a:solidFill>
                            <a:schemeClr val="accent6"/>
                          </a:solidFill>
                          <a:effectLst/>
                        </a:rPr>
                        <a:t>is the charity leading the fight against the most devastating and fastest growing health crisis of our time, creating a world where diabetes can do no harm.</a:t>
                      </a:r>
                    </a:p>
                  </a:txBody>
                  <a:tcPr marL="56732" marR="56732"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10002"/>
                  </a:ext>
                </a:extLst>
              </a:tr>
            </a:tbl>
          </a:graphicData>
        </a:graphic>
      </p:graphicFrame>
      <p:pic>
        <p:nvPicPr>
          <p:cNvPr id="6" name="Picture 2"/>
          <p:cNvPicPr>
            <a:picLocks noChangeAspect="1" noChangeArrowheads="1"/>
          </p:cNvPicPr>
          <p:nvPr/>
        </p:nvPicPr>
        <p:blipFill>
          <a:blip r:embed="rId3"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bwMode="auto">
          <a:xfrm>
            <a:off x="68828" y="1238451"/>
            <a:ext cx="1965960" cy="1034935"/>
          </a:xfrm>
          <a:prstGeom prst="rect">
            <a:avLst/>
          </a:prstGeom>
          <a:noFill/>
          <a:extLst>
            <a:ext uri="{909E8E84-426E-40dd-AFC4-6F175D3DCCD1}">
              <a14:hiddenFill xmlns:a14="http://schemas.microsoft.com/office/drawing/2010/main" xmlns="">
                <a:solidFill>
                  <a:srgbClr val="FFFFFF"/>
                </a:solidFill>
              </a14:hiddenFill>
            </a:ext>
          </a:extLst>
        </p:spPr>
      </p:pic>
      <p:sp>
        <p:nvSpPr>
          <p:cNvPr id="7" name="Rectangle 6"/>
          <p:cNvSpPr>
            <a:spLocks noChangeArrowheads="1"/>
          </p:cNvSpPr>
          <p:nvPr/>
        </p:nvSpPr>
        <p:spPr bwMode="auto">
          <a:xfrm>
            <a:off x="179512" y="886840"/>
            <a:ext cx="2808312"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GB" altLang="en-US" sz="1200" dirty="0">
                <a:ea typeface="Times New Roman" pitchFamily="18" charset="0"/>
                <a:cs typeface="Times New Roman" pitchFamily="18" charset="0"/>
              </a:rPr>
              <a:t>Prepared in collaboration with:</a:t>
            </a:r>
            <a:endParaRPr lang="en-GB" altLang="en-US" dirty="0">
              <a:cs typeface="Arial" pitchFamily="34" charset="0"/>
            </a:endParaRPr>
          </a:p>
        </p:txBody>
      </p:sp>
      <p:graphicFrame>
        <p:nvGraphicFramePr>
          <p:cNvPr id="12" name="Table 11"/>
          <p:cNvGraphicFramePr>
            <a:graphicFrameLocks noGrp="1"/>
          </p:cNvGraphicFramePr>
          <p:nvPr/>
        </p:nvGraphicFramePr>
        <p:xfrm>
          <a:off x="333992" y="5529293"/>
          <a:ext cx="8389916" cy="990600"/>
        </p:xfrm>
        <a:graphic>
          <a:graphicData uri="http://schemas.openxmlformats.org/drawingml/2006/table">
            <a:tbl>
              <a:tblPr firstRow="1" firstCol="1" bandRow="1">
                <a:tableStyleId>{5C22544A-7EE6-4342-B048-85BDC9FD1C3A}</a:tableStyleId>
              </a:tblPr>
              <a:tblGrid>
                <a:gridCol w="2341244">
                  <a:extLst>
                    <a:ext uri="{9D8B030D-6E8A-4147-A177-3AD203B41FA5}">
                      <a16:colId xmlns:a16="http://schemas.microsoft.com/office/drawing/2014/main" val="20000"/>
                    </a:ext>
                  </a:extLst>
                </a:gridCol>
                <a:gridCol w="6048672">
                  <a:extLst>
                    <a:ext uri="{9D8B030D-6E8A-4147-A177-3AD203B41FA5}">
                      <a16:colId xmlns:a16="http://schemas.microsoft.com/office/drawing/2014/main" val="20001"/>
                    </a:ext>
                  </a:extLst>
                </a:gridCol>
              </a:tblGrid>
              <a:tr h="990600">
                <a:tc>
                  <a:txBody>
                    <a:bodyPr/>
                    <a:lstStyle/>
                    <a:p>
                      <a:pPr algn="ctr">
                        <a:spcAft>
                          <a:spcPts val="0"/>
                        </a:spcAft>
                      </a:pPr>
                      <a:endParaRPr lang="en-GB" sz="1300" dirty="0">
                        <a:solidFill>
                          <a:schemeClr val="tx1"/>
                        </a:solidFill>
                        <a:effectLst/>
                      </a:endParaRPr>
                    </a:p>
                    <a:p>
                      <a:pPr>
                        <a:spcAft>
                          <a:spcPts val="0"/>
                        </a:spcAft>
                      </a:pPr>
                      <a:r>
                        <a:rPr lang="en-GB" sz="1300" dirty="0">
                          <a:solidFill>
                            <a:schemeClr val="tx1"/>
                          </a:solidFill>
                          <a:effectLst/>
                        </a:rPr>
                        <a:t> </a:t>
                      </a:r>
                    </a:p>
                    <a:p>
                      <a:pPr>
                        <a:spcAft>
                          <a:spcPts val="0"/>
                        </a:spcAft>
                      </a:pPr>
                      <a:r>
                        <a:rPr lang="en-GB" sz="1300" dirty="0">
                          <a:solidFill>
                            <a:schemeClr val="tx1"/>
                          </a:solidFill>
                          <a:effectLst/>
                        </a:rPr>
                        <a:t> </a:t>
                      </a:r>
                      <a:endParaRPr lang="en-GB" sz="1300" dirty="0">
                        <a:solidFill>
                          <a:schemeClr val="tx1"/>
                        </a:solidFill>
                        <a:effectLst/>
                        <a:latin typeface="Arial"/>
                        <a:ea typeface="Times New Roman"/>
                        <a:cs typeface="Times New Roman"/>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tc>
                  <a:txBody>
                    <a:bodyPr/>
                    <a:lstStyle/>
                    <a:p>
                      <a:pPr>
                        <a:spcAft>
                          <a:spcPts val="0"/>
                        </a:spcAft>
                      </a:pPr>
                      <a:r>
                        <a:rPr lang="en-GB" sz="1200" b="1" kern="1200" dirty="0">
                          <a:solidFill>
                            <a:schemeClr val="accent6"/>
                          </a:solidFill>
                          <a:effectLst/>
                          <a:latin typeface="+mn-lt"/>
                          <a:ea typeface="+mn-ea"/>
                          <a:cs typeface="+mn-cs"/>
                        </a:rPr>
                        <a:t>The National Cardiovascular Intelligence Network (NCVIN) </a:t>
                      </a:r>
                      <a:r>
                        <a:rPr lang="en-GB" sz="1200" b="0" kern="1200" dirty="0">
                          <a:solidFill>
                            <a:schemeClr val="accent6"/>
                          </a:solidFill>
                          <a:effectLst/>
                          <a:latin typeface="+mn-lt"/>
                          <a:ea typeface="+mn-ea"/>
                          <a:cs typeface="+mn-cs"/>
                        </a:rPr>
                        <a:t>is a partnership of leading national cardiovascular organisations which analyses information and data and turns it into meaningful timely health intelligence for commissioners, policy makers, clinicians and health professionals to improve services and outcomes.</a:t>
                      </a: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10000"/>
                  </a:ext>
                </a:extLst>
              </a:tr>
            </a:tbl>
          </a:graphicData>
        </a:graphic>
      </p:graphicFrame>
      <p:sp>
        <p:nvSpPr>
          <p:cNvPr id="11" name="Rectangle 10"/>
          <p:cNvSpPr>
            <a:spLocks noChangeArrowheads="1"/>
          </p:cNvSpPr>
          <p:nvPr/>
        </p:nvSpPr>
        <p:spPr bwMode="auto">
          <a:xfrm>
            <a:off x="231901" y="4941168"/>
            <a:ext cx="1152874"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endParaRPr lang="en-GB" altLang="en-US" sz="1200" dirty="0">
              <a:solidFill>
                <a:srgbClr val="000000"/>
              </a:solidFill>
              <a:ea typeface="Times New Roman" pitchFamily="18" charset="0"/>
              <a:cs typeface="Times New Roman" pitchFamily="18" charset="0"/>
            </a:endParaRPr>
          </a:p>
          <a:p>
            <a:pPr eaLnBrk="0" fontAlgn="base" hangingPunct="0">
              <a:spcBef>
                <a:spcPct val="0"/>
              </a:spcBef>
              <a:spcAft>
                <a:spcPct val="0"/>
              </a:spcAft>
            </a:pPr>
            <a:r>
              <a:rPr lang="en-GB" altLang="en-US" sz="1200" dirty="0">
                <a:solidFill>
                  <a:schemeClr val="accent6"/>
                </a:solidFill>
                <a:ea typeface="Times New Roman" pitchFamily="18" charset="0"/>
                <a:cs typeface="Times New Roman" pitchFamily="18" charset="0"/>
              </a:rPr>
              <a:t>Supported by:</a:t>
            </a:r>
            <a:endParaRPr lang="en-GB" altLang="en-US" sz="700" dirty="0">
              <a:solidFill>
                <a:schemeClr val="accent6"/>
              </a:solidFill>
              <a:cs typeface="Arial" pitchFamily="34" charset="0"/>
            </a:endParaRPr>
          </a:p>
          <a:p>
            <a:pPr eaLnBrk="0" fontAlgn="base" hangingPunct="0">
              <a:spcBef>
                <a:spcPct val="0"/>
              </a:spcBef>
              <a:spcAft>
                <a:spcPct val="0"/>
              </a:spcAft>
            </a:pPr>
            <a:endParaRPr lang="en-GB" altLang="en-US" dirty="0">
              <a:solidFill>
                <a:srgbClr val="0F0F0F"/>
              </a:solidFill>
              <a:cs typeface="Arial" pitchFamily="34" charset="0"/>
            </a:endParaRPr>
          </a:p>
        </p:txBody>
      </p:sp>
      <p:pic>
        <p:nvPicPr>
          <p:cNvPr id="13" name="Picture 12"/>
          <p:cNvPicPr>
            <a:picLocks noChangeAspect="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232265" y="5399076"/>
            <a:ext cx="1471353" cy="910244"/>
          </a:xfrm>
          <a:prstGeom prst="rect">
            <a:avLst/>
          </a:prstGeom>
        </p:spPr>
      </p:pic>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6722" y="3498527"/>
            <a:ext cx="1255222" cy="947651"/>
          </a:xfrm>
          <a:prstGeom prst="rect">
            <a:avLst/>
          </a:prstGeom>
        </p:spPr>
      </p:pic>
      <p:pic>
        <p:nvPicPr>
          <p:cNvPr id="102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512" y="4557879"/>
            <a:ext cx="1935480" cy="627888"/>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Slide Number Placeholder 3">
            <a:extLst>
              <a:ext uri="{FF2B5EF4-FFF2-40B4-BE49-F238E27FC236}">
                <a16:creationId xmlns:a16="http://schemas.microsoft.com/office/drawing/2014/main" id="{2AB5E2DF-B6D4-4827-97C3-F3AFB2DE5FFB}"/>
              </a:ext>
            </a:extLst>
          </p:cNvPr>
          <p:cNvSpPr txBox="1">
            <a:spLocks/>
          </p:cNvSpPr>
          <p:nvPr/>
        </p:nvSpPr>
        <p:spPr>
          <a:xfrm>
            <a:off x="6300000" y="630000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A684-6FB9-400F-B313-F111F0F48737}" type="slidenum">
              <a:rPr lang="en-GB" smtClean="0"/>
              <a:pPr/>
              <a:t>14</a:t>
            </a:fld>
            <a:endParaRPr lang="en-GB" dirty="0"/>
          </a:p>
        </p:txBody>
      </p:sp>
      <p:sp>
        <p:nvSpPr>
          <p:cNvPr id="15" name="Title 1">
            <a:extLst>
              <a:ext uri="{FF2B5EF4-FFF2-40B4-BE49-F238E27FC236}">
                <a16:creationId xmlns:a16="http://schemas.microsoft.com/office/drawing/2014/main" id="{A297E84B-12E4-4A6E-8250-9D0B0505FB72}"/>
              </a:ext>
            </a:extLst>
          </p:cNvPr>
          <p:cNvSpPr>
            <a:spLocks noGrp="1"/>
          </p:cNvSpPr>
          <p:nvPr>
            <p:ph type="title"/>
          </p:nvPr>
        </p:nvSpPr>
        <p:spPr>
          <a:xfrm>
            <a:off x="360000" y="331200"/>
            <a:ext cx="8424000" cy="706091"/>
          </a:xfrm>
        </p:spPr>
        <p:txBody>
          <a:bodyPr>
            <a:normAutofit/>
          </a:bodyPr>
          <a:lstStyle/>
          <a:p>
            <a:r>
              <a:rPr lang="en-GB" sz="3300" dirty="0"/>
              <a:t>Diabetes Prevention Programme, 2017-18</a:t>
            </a:r>
          </a:p>
        </p:txBody>
      </p:sp>
    </p:spTree>
    <p:extLst>
      <p:ext uri="{BB962C8B-B14F-4D97-AF65-F5344CB8AC3E}">
        <p14:creationId xmlns:p14="http://schemas.microsoft.com/office/powerpoint/2010/main" val="230670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000" y="331200"/>
            <a:ext cx="8424000" cy="706091"/>
          </a:xfrm>
        </p:spPr>
        <p:txBody>
          <a:bodyPr>
            <a:normAutofit/>
          </a:bodyPr>
          <a:lstStyle/>
          <a:p>
            <a:r>
              <a:rPr lang="en-GB" sz="3300" dirty="0"/>
              <a:t>Diabetes Prevention Programme, 2017-18</a:t>
            </a:r>
          </a:p>
        </p:txBody>
      </p:sp>
      <p:sp>
        <p:nvSpPr>
          <p:cNvPr id="5" name="Content Placeholder 2"/>
          <p:cNvSpPr>
            <a:spLocks noGrp="1"/>
          </p:cNvSpPr>
          <p:nvPr>
            <p:ph idx="1"/>
          </p:nvPr>
        </p:nvSpPr>
        <p:spPr>
          <a:xfrm>
            <a:off x="467544" y="1340768"/>
            <a:ext cx="8229600" cy="5001683"/>
          </a:xfrm>
        </p:spPr>
        <p:txBody>
          <a:bodyPr>
            <a:normAutofit fontScale="92500" lnSpcReduction="10000"/>
          </a:bodyPr>
          <a:lstStyle/>
          <a:p>
            <a:pPr marL="0" indent="0">
              <a:buNone/>
            </a:pPr>
            <a:r>
              <a:rPr lang="en-GB" sz="1900" b="1" dirty="0"/>
              <a:t>Published by NHS Digital</a:t>
            </a:r>
          </a:p>
          <a:p>
            <a:pPr marL="0" indent="0">
              <a:buNone/>
            </a:pPr>
            <a:r>
              <a:rPr lang="en-GB" sz="1900" b="1" dirty="0"/>
              <a:t>Part of the Government Statistical Service</a:t>
            </a:r>
          </a:p>
          <a:p>
            <a:pPr marL="0" indent="0">
              <a:buNone/>
            </a:pPr>
            <a:endParaRPr lang="en-GB" sz="2000" b="1" dirty="0"/>
          </a:p>
          <a:p>
            <a:pPr marL="0" indent="0">
              <a:buNone/>
            </a:pPr>
            <a:r>
              <a:rPr lang="en-GB" sz="1500" b="1" dirty="0"/>
              <a:t>Responsible Statistician</a:t>
            </a:r>
          </a:p>
          <a:p>
            <a:pPr marL="0" indent="0">
              <a:buNone/>
            </a:pPr>
            <a:r>
              <a:rPr lang="en-GB" sz="1500" dirty="0"/>
              <a:t>Peter Knighton, Principal Information Analyst</a:t>
            </a:r>
          </a:p>
          <a:p>
            <a:pPr marL="0" indent="0">
              <a:buNone/>
            </a:pPr>
            <a:endParaRPr lang="en-GB" sz="1600" dirty="0"/>
          </a:p>
          <a:p>
            <a:pPr marL="0" indent="0">
              <a:buNone/>
            </a:pPr>
            <a:r>
              <a:rPr lang="en-GB" sz="1900" dirty="0"/>
              <a:t>For further information</a:t>
            </a:r>
          </a:p>
          <a:p>
            <a:pPr marL="0" indent="0">
              <a:buNone/>
            </a:pPr>
            <a:r>
              <a:rPr lang="en-GB" sz="1900" b="1" dirty="0">
                <a:hlinkClick r:id="rId3"/>
              </a:rPr>
              <a:t>digital.nhs.uk</a:t>
            </a:r>
            <a:endParaRPr lang="en-GB" sz="1900" b="1" dirty="0"/>
          </a:p>
          <a:p>
            <a:pPr marL="0" indent="0">
              <a:buNone/>
            </a:pPr>
            <a:r>
              <a:rPr lang="en-GB" sz="1900" b="1" dirty="0"/>
              <a:t>0300 303 5678</a:t>
            </a:r>
          </a:p>
          <a:p>
            <a:pPr marL="0" indent="0">
              <a:buNone/>
            </a:pPr>
            <a:r>
              <a:rPr lang="en-GB" sz="1900" b="1" dirty="0">
                <a:hlinkClick r:id="rId4"/>
              </a:rPr>
              <a:t>enquiries@nhsdigital.nhs.uk</a:t>
            </a:r>
            <a:endParaRPr lang="en-GB" sz="1900" b="1" dirty="0"/>
          </a:p>
          <a:p>
            <a:pPr marL="0" indent="0">
              <a:buNone/>
            </a:pPr>
            <a:endParaRPr lang="en-GB" sz="1800" dirty="0"/>
          </a:p>
          <a:p>
            <a:pPr marL="0" indent="0">
              <a:buNone/>
            </a:pPr>
            <a:r>
              <a:rPr lang="en-GB" sz="1500" dirty="0"/>
              <a:t>Copyright © 2019, the Healthcare Quality Improvement Partnership, National Diabetes Audit. All rights reserved.</a:t>
            </a:r>
          </a:p>
          <a:p>
            <a:pPr marL="0" indent="0">
              <a:buNone/>
            </a:pPr>
            <a:endParaRPr lang="en-GB" sz="1500" dirty="0"/>
          </a:p>
          <a:p>
            <a:pPr marL="0" indent="0">
              <a:buNone/>
            </a:pPr>
            <a:r>
              <a:rPr lang="en-GB" sz="1500" dirty="0"/>
              <a:t>This work remains the sole and exclusive property of the Healthcare Quality Improvement Partnership and may only be reproduced where there is explicit reference to the ownership of the Healthcare Quality Improvement Partnership.</a:t>
            </a:r>
          </a:p>
          <a:p>
            <a:pPr marL="0" indent="0">
              <a:buNone/>
            </a:pPr>
            <a:endParaRPr lang="en-GB" sz="1500" dirty="0"/>
          </a:p>
          <a:p>
            <a:pPr marL="0" indent="0">
              <a:buNone/>
            </a:pPr>
            <a:r>
              <a:rPr lang="en-GB" sz="1500" dirty="0"/>
              <a:t>This work may be re-used by NHS and government organisations without permission.</a:t>
            </a:r>
          </a:p>
        </p:txBody>
      </p:sp>
      <p:sp>
        <p:nvSpPr>
          <p:cNvPr id="3" name="Slide Number Placeholder 2"/>
          <p:cNvSpPr>
            <a:spLocks noGrp="1"/>
          </p:cNvSpPr>
          <p:nvPr>
            <p:ph type="sldNum" sz="quarter" idx="12"/>
          </p:nvPr>
        </p:nvSpPr>
        <p:spPr/>
        <p:txBody>
          <a:bodyPr/>
          <a:lstStyle/>
          <a:p>
            <a:fld id="{280AA684-6FB9-400F-B313-F111F0F48737}" type="slidenum">
              <a:rPr lang="en-GB" smtClean="0"/>
              <a:t>15</a:t>
            </a:fld>
            <a:endParaRPr lang="en-GB" dirty="0"/>
          </a:p>
        </p:txBody>
      </p:sp>
    </p:spTree>
    <p:extLst>
      <p:ext uri="{BB962C8B-B14F-4D97-AF65-F5344CB8AC3E}">
        <p14:creationId xmlns:p14="http://schemas.microsoft.com/office/powerpoint/2010/main" val="4259303036"/>
      </p:ext>
    </p:extLst>
  </p:cSld>
  <p:clrMapOvr>
    <a:masterClrMapping/>
  </p:clrMapOvr>
</p:sld>
</file>

<file path=ppt/theme/theme1.xml><?xml version="1.0" encoding="utf-8"?>
<a:theme xmlns:a="http://schemas.openxmlformats.org/drawingml/2006/main" name="01_NHSDigital_template_Plain_Grey_v1">
  <a:themeElements>
    <a:clrScheme name="01-NHS-DIGI-PALETTE-01">
      <a:dk1>
        <a:srgbClr val="0F0F0F"/>
      </a:dk1>
      <a:lt1>
        <a:srgbClr val="FFFFFF"/>
      </a:lt1>
      <a:dk2>
        <a:srgbClr val="033F85"/>
      </a:dk2>
      <a:lt2>
        <a:srgbClr val="F9F9F9"/>
      </a:lt2>
      <a:accent1>
        <a:srgbClr val="005EB8"/>
      </a:accent1>
      <a:accent2>
        <a:srgbClr val="84919C"/>
      </a:accent2>
      <a:accent3>
        <a:srgbClr val="003087"/>
      </a:accent3>
      <a:accent4>
        <a:srgbClr val="5EBCE8"/>
      </a:accent4>
      <a:accent5>
        <a:srgbClr val="CED1D5"/>
      </a:accent5>
      <a:accent6>
        <a:srgbClr val="424D58"/>
      </a:accent6>
      <a:hlink>
        <a:srgbClr val="003087"/>
      </a:hlink>
      <a:folHlink>
        <a:srgbClr val="7C2855"/>
      </a:folHlink>
    </a:clrScheme>
    <a:fontScheme name="Corporate 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algn="l">
          <a:defRPr b="1" dirty="0">
            <a:solidFill>
              <a:schemeClr val="accent1"/>
            </a:solidFill>
          </a:defRPr>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_x0020_Description xmlns="13924874-49cc-47da-a6dc-0fe9eac15d59" xsi:nil="true"/>
    <Subject_x0020_Keyword xmlns="13924874-49cc-47da-a6dc-0fe9eac15d5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Generic IC Document" ma:contentTypeID="0x0101000D9A616798B4304AAE9F369C5C3E8ED10015E1493EA5173B4F91EE9EDE9BA599F3" ma:contentTypeVersion="18" ma:contentTypeDescription="" ma:contentTypeScope="" ma:versionID="13e43318b14a0ab95b69abe254959e3f">
  <xsd:schema xmlns:xsd="http://www.w3.org/2001/XMLSchema" xmlns:xs="http://www.w3.org/2001/XMLSchema" xmlns:p="http://schemas.microsoft.com/office/2006/metadata/properties" xmlns:ns2="13924874-49cc-47da-a6dc-0fe9eac15d59" targetNamespace="http://schemas.microsoft.com/office/2006/metadata/properties" ma:root="true" ma:fieldsID="69c73407eb2d839893d20b7b120b9fb1" ns2:_="">
    <xsd:import namespace="13924874-49cc-47da-a6dc-0fe9eac15d59"/>
    <xsd:element name="properties">
      <xsd:complexType>
        <xsd:sequence>
          <xsd:element name="documentManagement">
            <xsd:complexType>
              <xsd:all>
                <xsd:element ref="ns2:IC_x0020_Description" minOccurs="0"/>
                <xsd:element ref="ns2:Subject_x0020_Keywor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924874-49cc-47da-a6dc-0fe9eac15d59" elementFormDefault="qualified">
    <xsd:import namespace="http://schemas.microsoft.com/office/2006/documentManagement/types"/>
    <xsd:import namespace="http://schemas.microsoft.com/office/infopath/2007/PartnerControls"/>
    <xsd:element name="IC_x0020_Description" ma:index="2" nillable="true" ma:displayName="IC Description" ma:internalName="IC_x0020_Description" ma:readOnly="false">
      <xsd:simpleType>
        <xsd:restriction base="dms:Note">
          <xsd:maxLength value="255"/>
        </xsd:restriction>
      </xsd:simpleType>
    </xsd:element>
    <xsd:element name="Subject_x0020_Keyword" ma:index="3" nillable="true" ma:displayName="Subject Keyword" ma:internalName="Subject_x0020_Keyword">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E7B8C8-2ED4-4EAF-BDA0-3C61C7B2CA08}">
  <ds:schemaRefs>
    <ds:schemaRef ds:uri="http://schemas.openxmlformats.org/package/2006/metadata/core-properties"/>
    <ds:schemaRef ds:uri="http://schemas.microsoft.com/office/2006/metadata/properties"/>
    <ds:schemaRef ds:uri="http://purl.org/dc/elements/1.1/"/>
    <ds:schemaRef ds:uri="http://purl.org/dc/dcmitype/"/>
    <ds:schemaRef ds:uri="http://purl.org/dc/terms/"/>
    <ds:schemaRef ds:uri="http://schemas.microsoft.com/office/2006/documentManagement/types"/>
    <ds:schemaRef ds:uri="http://schemas.microsoft.com/office/infopath/2007/PartnerControls"/>
    <ds:schemaRef ds:uri="13924874-49cc-47da-a6dc-0fe9eac15d59"/>
    <ds:schemaRef ds:uri="http://www.w3.org/XML/1998/namespace"/>
  </ds:schemaRefs>
</ds:datastoreItem>
</file>

<file path=customXml/itemProps2.xml><?xml version="1.0" encoding="utf-8"?>
<ds:datastoreItem xmlns:ds="http://schemas.openxmlformats.org/officeDocument/2006/customXml" ds:itemID="{8E65FAD7-1772-4B28-AB63-B9EEC934DA0C}">
  <ds:schemaRefs>
    <ds:schemaRef ds:uri="http://schemas.microsoft.com/sharepoint/v3/contenttype/forms"/>
  </ds:schemaRefs>
</ds:datastoreItem>
</file>

<file path=customXml/itemProps3.xml><?xml version="1.0" encoding="utf-8"?>
<ds:datastoreItem xmlns:ds="http://schemas.openxmlformats.org/officeDocument/2006/customXml" ds:itemID="{2669804B-EAA3-4133-B4CB-EEF8448CB8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924874-49cc-47da-a6dc-0fe9eac15d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01_NHSDigital_template_Plain_Grey_v1</Template>
  <TotalTime>29829</TotalTime>
  <Words>1887</Words>
  <Application>Microsoft Office PowerPoint</Application>
  <PresentationFormat>On-screen Show (4:3)</PresentationFormat>
  <Paragraphs>188</Paragraphs>
  <Slides>15</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01_NHSDigital_template_Plain_Grey_v1</vt:lpstr>
      <vt:lpstr>PowerPoint Presentation</vt:lpstr>
      <vt:lpstr>Introduction</vt:lpstr>
      <vt:lpstr>Registrations</vt:lpstr>
      <vt:lpstr>NHS Diabetes Prevention Programme</vt:lpstr>
      <vt:lpstr>People with Non-Diabetic Hyperglycaemia  Demographics</vt:lpstr>
      <vt:lpstr>Non-Diabetic Hyperglycaemia: Age / Sex</vt:lpstr>
      <vt:lpstr>Non-Diabetic Hyperglycaemia: Ethnicity</vt:lpstr>
      <vt:lpstr>Non-Diabetic Hyperglycaemia: Age / Ethnicity</vt:lpstr>
      <vt:lpstr>Non-Diabetic Hyperglycaemia: Deprivation</vt:lpstr>
      <vt:lpstr>Non-Diabetic Hyperglycaemia: BMI</vt:lpstr>
      <vt:lpstr>Non-Diabetic Hyperglycaemia: BMI / Ethnicity</vt:lpstr>
      <vt:lpstr>Impact of Behaviour Change Programmes </vt:lpstr>
      <vt:lpstr>Current limitations and future plans </vt:lpstr>
      <vt:lpstr>Diabetes Prevention Programme, 2017-18</vt:lpstr>
      <vt:lpstr>Diabetes Prevention Programme, 2017-18</vt:lpstr>
    </vt:vector>
  </TitlesOfParts>
  <Company>Health &amp; Social Care Information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Claire Meace</cp:lastModifiedBy>
  <cp:revision>818</cp:revision>
  <cp:lastPrinted>2014-12-18T12:02:32Z</cp:lastPrinted>
  <dcterms:created xsi:type="dcterms:W3CDTF">2016-08-15T10:53:17Z</dcterms:created>
  <dcterms:modified xsi:type="dcterms:W3CDTF">2019-07-12T13:05:42Z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0x0101000D9A616798B4304AAE9F369C5C3E8ED10015E1493EA5173B4F91EE9EDE9BA599F3</vt:lpwstr>
  </property>
  <property fmtid="{D5CDD505-2E9C-101B-9397-08002B2CF9AE}" pid="3" name="hscicOrgProfessionalGroup">
    <vt:lpwstr/>
  </property>
  <property fmtid="{D5CDD505-2E9C-101B-9397-08002B2CF9AE}" pid="4" name="hscicOrgAboutUs">
    <vt:lpwstr/>
  </property>
  <property fmtid="{D5CDD505-2E9C-101B-9397-08002B2CF9AE}" pid="5" name="hscicOrgOfficeLocation">
    <vt:lpwstr/>
  </property>
  <property fmtid="{D5CDD505-2E9C-101B-9397-08002B2CF9AE}" pid="6" name="TaxCatchAll">
    <vt:lpwstr>91;#Marketing and communications|f1d3a16b-0544-4f51-866b-b180190a235d</vt:lpwstr>
  </property>
  <property fmtid="{D5CDD505-2E9C-101B-9397-08002B2CF9AE}" pid="7" name="HeaderStyleDefinitions">
    <vt:lpwstr/>
  </property>
  <property fmtid="{D5CDD505-2E9C-101B-9397-08002B2CF9AE}" pid="8" name="hscicOrgPortfolioDomain">
    <vt:lpwstr/>
  </property>
  <property fmtid="{D5CDD505-2E9C-101B-9397-08002B2CF9AE}" pid="9" name="k5f85a19a9254bc483709d4dbf407442">
    <vt:lpwstr>Marketing and communications|f1d3a16b-0544-4f51-866b-b180190a235d</vt:lpwstr>
  </property>
  <property fmtid="{D5CDD505-2E9C-101B-9397-08002B2CF9AE}" pid="10" name="hscicOrgCorporateFunction">
    <vt:lpwstr>91;#Marketing and communications|f1d3a16b-0544-4f51-866b-b180190a235d</vt:lpwstr>
  </property>
</Properties>
</file>